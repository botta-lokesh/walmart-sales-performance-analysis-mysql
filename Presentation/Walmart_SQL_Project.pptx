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5" r:id="rId3"/>
    <p:sldId id="286" r:id="rId4"/>
    <p:sldId id="287" r:id="rId5"/>
    <p:sldId id="288"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1" r:id="rId20"/>
    <p:sldId id="272" r:id="rId21"/>
    <p:sldId id="274" r:id="rId22"/>
    <p:sldId id="275" r:id="rId23"/>
    <p:sldId id="277" r:id="rId24"/>
    <p:sldId id="278" r:id="rId25"/>
    <p:sldId id="279" r:id="rId26"/>
    <p:sldId id="280" r:id="rId27"/>
    <p:sldId id="282" r:id="rId28"/>
    <p:sldId id="283" r:id="rId29"/>
    <p:sldId id="296" r:id="rId30"/>
    <p:sldId id="297" r:id="rId31"/>
    <p:sldId id="291" r:id="rId32"/>
    <p:sldId id="295" r:id="rId33"/>
    <p:sldId id="292" r:id="rId34"/>
    <p:sldId id="293" r:id="rId35"/>
    <p:sldId id="29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7600" y="3886200"/>
            <a:ext cx="4114800" cy="1752600"/>
          </a:xfrm>
        </p:spPr>
        <p:txBody>
          <a:bodyPr>
            <a:normAutofit fontScale="85000" lnSpcReduction="10000"/>
          </a:bodyPr>
          <a:lstStyle/>
          <a:p>
            <a:pPr>
              <a:buFont typeface="Arial" panose="020B0604020202020204" pitchFamily="34" charset="0"/>
              <a:buChar char="•"/>
            </a:pPr>
            <a:r>
              <a:rPr lang="en-GB" b="1" dirty="0"/>
              <a:t>Prepared By: </a:t>
            </a:r>
            <a:r>
              <a:rPr lang="en-GB" b="1" dirty="0" err="1"/>
              <a:t>Botta</a:t>
            </a:r>
            <a:r>
              <a:rPr lang="en-GB" b="1" dirty="0"/>
              <a:t> Lokesh </a:t>
            </a:r>
          </a:p>
          <a:p>
            <a:pPr>
              <a:buFont typeface="Arial" panose="020B0604020202020204" pitchFamily="34" charset="0"/>
              <a:buChar char="•"/>
            </a:pPr>
            <a:r>
              <a:rPr lang="en-GB" b="1" dirty="0"/>
              <a:t>Tools Used: MySQL 8.0, Excel, PowerPoint </a:t>
            </a:r>
          </a:p>
          <a:p>
            <a:pPr>
              <a:buFont typeface="Arial" panose="020B0604020202020204" pitchFamily="34" charset="0"/>
              <a:buChar char="•"/>
            </a:pPr>
            <a:r>
              <a:rPr lang="en-GB" b="1" dirty="0"/>
              <a:t>Data Analytics Project</a:t>
            </a:r>
          </a:p>
          <a:p>
            <a:endParaRPr dirty="0"/>
          </a:p>
        </p:txBody>
      </p:sp>
      <p:sp>
        <p:nvSpPr>
          <p:cNvPr id="4" name="Title 1"/>
          <p:cNvSpPr>
            <a:spLocks noGrp="1"/>
          </p:cNvSpPr>
          <p:nvPr>
            <p:ph type="ctrTitle"/>
          </p:nvPr>
        </p:nvSpPr>
        <p:spPr>
          <a:xfrm>
            <a:off x="502920" y="660400"/>
            <a:ext cx="7772400" cy="2490763"/>
          </a:xfrm>
        </p:spPr>
        <p:txBody>
          <a:bodyPr/>
          <a:lstStyle/>
          <a:p>
            <a:r>
              <a:rPr dirty="0"/>
              <a:t>Walmart Sales Analysis Using MySQL</a:t>
            </a:r>
          </a:p>
        </p:txBody>
      </p:sp>
      <p:sp>
        <p:nvSpPr>
          <p:cNvPr id="5" name="Subtitle 2"/>
          <p:cNvSpPr>
            <a:spLocks noGrp="1"/>
          </p:cNvSpPr>
          <p:nvPr>
            <p:ph type="subTitle" idx="1"/>
          </p:nvPr>
        </p:nvSpPr>
        <p:spPr>
          <a:xfrm>
            <a:off x="2743200" y="4870939"/>
            <a:ext cx="6400800" cy="1752600"/>
          </a:xfrm>
        </p:spPr>
        <p:txBody>
          <a:bodyPr>
            <a:normAutofit/>
          </a:bodyPr>
          <a:lstStyle/>
          <a:p>
            <a:endParaRPr lang="en-GB" b="1" dirty="0"/>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53FA6-60EF-448D-8B37-E1A711E39417}"/>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0EE2866C-94DC-4F47-9F2F-71CBFD490BF8}"/>
              </a:ext>
            </a:extLst>
          </p:cNvPr>
          <p:cNvSpPr>
            <a:spLocks noGrp="1"/>
          </p:cNvSpPr>
          <p:nvPr>
            <p:ph idx="1"/>
          </p:nvPr>
        </p:nvSpPr>
        <p:spPr>
          <a:xfrm>
            <a:off x="457200" y="1600200"/>
            <a:ext cx="8229600" cy="4983162"/>
          </a:xfrm>
        </p:spPr>
        <p:txBody>
          <a:bodyPr>
            <a:normAutofit fontScale="62500" lnSpcReduction="20000"/>
          </a:bodyPr>
          <a:lstStyle/>
          <a:p>
            <a:pPr marL="0" indent="0">
              <a:buNone/>
            </a:pPr>
            <a:r>
              <a:rPr lang="en-GB" b="1" dirty="0"/>
              <a:t>Project Objective</a:t>
            </a:r>
          </a:p>
          <a:p>
            <a:r>
              <a:rPr lang="en-GB" dirty="0"/>
              <a:t>To </a:t>
            </a:r>
            <a:r>
              <a:rPr lang="en-GB" dirty="0" err="1"/>
              <a:t>analyze</a:t>
            </a:r>
            <a:r>
              <a:rPr lang="en-GB" dirty="0"/>
              <a:t> Walmart sales data and identify:</a:t>
            </a:r>
          </a:p>
          <a:p>
            <a:pPr>
              <a:buFont typeface="Arial" panose="020B0604020202020204" pitchFamily="34" charset="0"/>
              <a:buChar char="•"/>
            </a:pPr>
            <a:r>
              <a:rPr lang="en-GB" dirty="0"/>
              <a:t>Branch performance trends </a:t>
            </a:r>
          </a:p>
          <a:p>
            <a:pPr>
              <a:buFont typeface="Arial" panose="020B0604020202020204" pitchFamily="34" charset="0"/>
              <a:buChar char="•"/>
            </a:pPr>
            <a:r>
              <a:rPr lang="en-GB" dirty="0"/>
              <a:t>Product profitability </a:t>
            </a:r>
          </a:p>
          <a:p>
            <a:pPr>
              <a:buFont typeface="Arial" panose="020B0604020202020204" pitchFamily="34" charset="0"/>
              <a:buChar char="•"/>
            </a:pPr>
            <a:r>
              <a:rPr lang="en-GB" dirty="0"/>
              <a:t>Customer purchasing </a:t>
            </a:r>
            <a:r>
              <a:rPr lang="en-GB" dirty="0" err="1"/>
              <a:t>behavior</a:t>
            </a:r>
            <a:r>
              <a:rPr lang="en-GB" dirty="0"/>
              <a:t> </a:t>
            </a:r>
          </a:p>
          <a:p>
            <a:pPr>
              <a:buFont typeface="Arial" panose="020B0604020202020204" pitchFamily="34" charset="0"/>
              <a:buChar char="•"/>
            </a:pPr>
            <a:r>
              <a:rPr lang="en-GB" dirty="0"/>
              <a:t>Payment preferences </a:t>
            </a:r>
          </a:p>
          <a:p>
            <a:pPr>
              <a:buFont typeface="Arial" panose="020B0604020202020204" pitchFamily="34" charset="0"/>
              <a:buChar char="•"/>
            </a:pPr>
            <a:r>
              <a:rPr lang="en-GB" dirty="0"/>
              <a:t>Sales growth opportunities </a:t>
            </a:r>
          </a:p>
          <a:p>
            <a:pPr marL="0" indent="0">
              <a:buNone/>
            </a:pPr>
            <a:r>
              <a:rPr lang="en-GB" b="1" dirty="0"/>
              <a:t>Tools Used</a:t>
            </a:r>
          </a:p>
          <a:p>
            <a:pPr>
              <a:buFont typeface="Arial" panose="020B0604020202020204" pitchFamily="34" charset="0"/>
              <a:buChar char="•"/>
            </a:pPr>
            <a:r>
              <a:rPr lang="en-GB" dirty="0"/>
              <a:t>MySQL 8.0 </a:t>
            </a:r>
          </a:p>
          <a:p>
            <a:pPr>
              <a:buFont typeface="Arial" panose="020B0604020202020204" pitchFamily="34" charset="0"/>
              <a:buChar char="•"/>
            </a:pPr>
            <a:r>
              <a:rPr lang="en-GB" dirty="0"/>
              <a:t>SQL Window Functions </a:t>
            </a:r>
          </a:p>
          <a:p>
            <a:pPr>
              <a:buFont typeface="Arial" panose="020B0604020202020204" pitchFamily="34" charset="0"/>
              <a:buChar char="•"/>
            </a:pPr>
            <a:r>
              <a:rPr lang="en-GB" dirty="0"/>
              <a:t>CTEs </a:t>
            </a:r>
          </a:p>
          <a:p>
            <a:pPr>
              <a:buFont typeface="Arial" panose="020B0604020202020204" pitchFamily="34" charset="0"/>
              <a:buChar char="•"/>
            </a:pPr>
            <a:r>
              <a:rPr lang="en-GB" dirty="0"/>
              <a:t>Excel </a:t>
            </a:r>
          </a:p>
          <a:p>
            <a:pPr>
              <a:buFont typeface="Arial" panose="020B0604020202020204" pitchFamily="34" charset="0"/>
              <a:buChar char="•"/>
            </a:pPr>
            <a:r>
              <a:rPr lang="en-GB" dirty="0"/>
              <a:t>PowerPoint </a:t>
            </a:r>
          </a:p>
          <a:p>
            <a:pPr marL="0" indent="0">
              <a:buNone/>
            </a:pPr>
            <a:r>
              <a:rPr lang="en-GB" b="1" dirty="0"/>
              <a:t>Key Outcome</a:t>
            </a:r>
          </a:p>
          <a:p>
            <a:r>
              <a:rPr lang="en-GB" dirty="0"/>
              <a:t>Generate actionable business insights from transactional sales data.</a:t>
            </a:r>
          </a:p>
          <a:p>
            <a:endParaRPr lang="en-IN" dirty="0"/>
          </a:p>
        </p:txBody>
      </p:sp>
    </p:spTree>
    <p:extLst>
      <p:ext uri="{BB962C8B-B14F-4D97-AF65-F5344CB8AC3E}">
        <p14:creationId xmlns:p14="http://schemas.microsoft.com/office/powerpoint/2010/main" val="436040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72F0D-B6D2-441C-BDBB-7E3FDFF448A6}"/>
              </a:ext>
            </a:extLst>
          </p:cNvPr>
          <p:cNvSpPr>
            <a:spLocks noGrp="1"/>
          </p:cNvSpPr>
          <p:nvPr>
            <p:ph type="title"/>
          </p:nvPr>
        </p:nvSpPr>
        <p:spPr/>
        <p:txBody>
          <a:bodyPr/>
          <a:lstStyle/>
          <a:p>
            <a:r>
              <a:rPr lang="en-IN" dirty="0"/>
              <a:t>Business Problem Statement</a:t>
            </a:r>
          </a:p>
        </p:txBody>
      </p:sp>
      <p:sp>
        <p:nvSpPr>
          <p:cNvPr id="3" name="Content Placeholder 2">
            <a:extLst>
              <a:ext uri="{FF2B5EF4-FFF2-40B4-BE49-F238E27FC236}">
                <a16:creationId xmlns:a16="http://schemas.microsoft.com/office/drawing/2014/main" id="{0AC09E3E-C329-4AC1-A89F-4C17A5183C94}"/>
              </a:ext>
            </a:extLst>
          </p:cNvPr>
          <p:cNvSpPr>
            <a:spLocks noGrp="1"/>
          </p:cNvSpPr>
          <p:nvPr>
            <p:ph idx="1"/>
          </p:nvPr>
        </p:nvSpPr>
        <p:spPr/>
        <p:txBody>
          <a:bodyPr>
            <a:normAutofit fontScale="70000" lnSpcReduction="20000"/>
          </a:bodyPr>
          <a:lstStyle/>
          <a:p>
            <a:pPr marL="0" indent="0">
              <a:buNone/>
            </a:pPr>
            <a:r>
              <a:rPr lang="en-GB" b="1" dirty="0"/>
              <a:t>Content</a:t>
            </a:r>
          </a:p>
          <a:p>
            <a:r>
              <a:rPr lang="en-GB" dirty="0"/>
              <a:t>Walmart aims to:</a:t>
            </a:r>
          </a:p>
          <a:p>
            <a:pPr>
              <a:buFont typeface="Arial" panose="020B0604020202020204" pitchFamily="34" charset="0"/>
              <a:buChar char="•"/>
            </a:pPr>
            <a:r>
              <a:rPr lang="en-GB" dirty="0"/>
              <a:t>Increase revenue growth </a:t>
            </a:r>
          </a:p>
          <a:p>
            <a:pPr>
              <a:buFont typeface="Arial" panose="020B0604020202020204" pitchFamily="34" charset="0"/>
              <a:buChar char="•"/>
            </a:pPr>
            <a:r>
              <a:rPr lang="en-GB" dirty="0"/>
              <a:t>Improve product performance </a:t>
            </a:r>
          </a:p>
          <a:p>
            <a:pPr>
              <a:buFont typeface="Arial" panose="020B0604020202020204" pitchFamily="34" charset="0"/>
              <a:buChar char="•"/>
            </a:pPr>
            <a:r>
              <a:rPr lang="en-GB" dirty="0"/>
              <a:t>Understand customer </a:t>
            </a:r>
            <a:r>
              <a:rPr lang="en-GB" dirty="0" err="1"/>
              <a:t>behavior</a:t>
            </a:r>
            <a:r>
              <a:rPr lang="en-GB" dirty="0"/>
              <a:t> </a:t>
            </a:r>
          </a:p>
          <a:p>
            <a:pPr>
              <a:buFont typeface="Arial" panose="020B0604020202020204" pitchFamily="34" charset="0"/>
              <a:buChar char="•"/>
            </a:pPr>
            <a:r>
              <a:rPr lang="en-GB" dirty="0"/>
              <a:t>Enhance customer retention </a:t>
            </a:r>
          </a:p>
          <a:p>
            <a:pPr>
              <a:buFont typeface="Arial" panose="020B0604020202020204" pitchFamily="34" charset="0"/>
              <a:buChar char="•"/>
            </a:pPr>
            <a:r>
              <a:rPr lang="en-GB" dirty="0"/>
              <a:t>Optimize payment methods </a:t>
            </a:r>
          </a:p>
          <a:p>
            <a:pPr>
              <a:buFont typeface="Arial" panose="020B0604020202020204" pitchFamily="34" charset="0"/>
              <a:buChar char="•"/>
            </a:pPr>
            <a:r>
              <a:rPr lang="en-GB" dirty="0"/>
              <a:t>Improve operational efficiency </a:t>
            </a:r>
          </a:p>
          <a:p>
            <a:pPr marL="0" indent="0">
              <a:buNone/>
            </a:pPr>
            <a:r>
              <a:rPr lang="en-GB" b="1" dirty="0"/>
              <a:t>Key Business Questions</a:t>
            </a:r>
          </a:p>
          <a:p>
            <a:pPr>
              <a:buFont typeface="Arial" panose="020B0604020202020204" pitchFamily="34" charset="0"/>
              <a:buChar char="•"/>
            </a:pPr>
            <a:r>
              <a:rPr lang="en-GB" dirty="0"/>
              <a:t>Which branch performs best? </a:t>
            </a:r>
          </a:p>
          <a:p>
            <a:pPr>
              <a:buFont typeface="Arial" panose="020B0604020202020204" pitchFamily="34" charset="0"/>
              <a:buChar char="•"/>
            </a:pPr>
            <a:r>
              <a:rPr lang="en-GB" dirty="0"/>
              <a:t>Which products generate the highest profit? </a:t>
            </a:r>
          </a:p>
          <a:p>
            <a:pPr>
              <a:buFont typeface="Arial" panose="020B0604020202020204" pitchFamily="34" charset="0"/>
              <a:buChar char="•"/>
            </a:pPr>
            <a:r>
              <a:rPr lang="en-GB" dirty="0"/>
              <a:t>Who are the most valuable customers? </a:t>
            </a:r>
          </a:p>
          <a:p>
            <a:pPr>
              <a:buFont typeface="Arial" panose="020B0604020202020204" pitchFamily="34" charset="0"/>
              <a:buChar char="•"/>
            </a:pPr>
            <a:r>
              <a:rPr lang="en-GB" dirty="0"/>
              <a:t>What factors influence sales performance?</a:t>
            </a:r>
          </a:p>
          <a:p>
            <a:endParaRPr lang="en-IN" dirty="0"/>
          </a:p>
        </p:txBody>
      </p:sp>
    </p:spTree>
    <p:extLst>
      <p:ext uri="{BB962C8B-B14F-4D97-AF65-F5344CB8AC3E}">
        <p14:creationId xmlns:p14="http://schemas.microsoft.com/office/powerpoint/2010/main" val="1228522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A5BBF-98A6-4BBE-8659-35D68C5A7EBB}"/>
              </a:ext>
            </a:extLst>
          </p:cNvPr>
          <p:cNvSpPr>
            <a:spLocks noGrp="1"/>
          </p:cNvSpPr>
          <p:nvPr>
            <p:ph type="title"/>
          </p:nvPr>
        </p:nvSpPr>
        <p:spPr/>
        <p:txBody>
          <a:bodyPr/>
          <a:lstStyle/>
          <a:p>
            <a:r>
              <a:rPr lang="en-IN" dirty="0"/>
              <a:t>Dataset Overview</a:t>
            </a:r>
          </a:p>
        </p:txBody>
      </p:sp>
      <p:graphicFrame>
        <p:nvGraphicFramePr>
          <p:cNvPr id="6" name="Content Placeholder 5">
            <a:extLst>
              <a:ext uri="{FF2B5EF4-FFF2-40B4-BE49-F238E27FC236}">
                <a16:creationId xmlns:a16="http://schemas.microsoft.com/office/drawing/2014/main" id="{A65A594C-80F4-409F-AF20-A92DFFB56CB6}"/>
              </a:ext>
            </a:extLst>
          </p:cNvPr>
          <p:cNvGraphicFramePr>
            <a:graphicFrameLocks noGrp="1"/>
          </p:cNvGraphicFramePr>
          <p:nvPr>
            <p:ph sz="half" idx="1"/>
            <p:extLst>
              <p:ext uri="{D42A27DB-BD31-4B8C-83A1-F6EECF244321}">
                <p14:modId xmlns:p14="http://schemas.microsoft.com/office/powerpoint/2010/main" val="520009714"/>
              </p:ext>
            </p:extLst>
          </p:nvPr>
        </p:nvGraphicFramePr>
        <p:xfrm>
          <a:off x="457200" y="1600200"/>
          <a:ext cx="3087858" cy="3108960"/>
        </p:xfrm>
        <a:graphic>
          <a:graphicData uri="http://schemas.openxmlformats.org/drawingml/2006/table">
            <a:tbl>
              <a:tblPr/>
              <a:tblGrid>
                <a:gridCol w="1543929">
                  <a:extLst>
                    <a:ext uri="{9D8B030D-6E8A-4147-A177-3AD203B41FA5}">
                      <a16:colId xmlns:a16="http://schemas.microsoft.com/office/drawing/2014/main" val="2561133429"/>
                    </a:ext>
                  </a:extLst>
                </a:gridCol>
                <a:gridCol w="1543929">
                  <a:extLst>
                    <a:ext uri="{9D8B030D-6E8A-4147-A177-3AD203B41FA5}">
                      <a16:colId xmlns:a16="http://schemas.microsoft.com/office/drawing/2014/main" val="2243230892"/>
                    </a:ext>
                  </a:extLst>
                </a:gridCol>
              </a:tblGrid>
              <a:tr h="315801">
                <a:tc>
                  <a:txBody>
                    <a:bodyPr/>
                    <a:lstStyle/>
                    <a:p>
                      <a:r>
                        <a:rPr lang="en-IN" dirty="0"/>
                        <a:t>Metric</a:t>
                      </a:r>
                    </a:p>
                  </a:txBody>
                  <a:tcPr anchor="ctr">
                    <a:lnL>
                      <a:noFill/>
                    </a:lnL>
                    <a:lnR>
                      <a:noFill/>
                    </a:lnR>
                    <a:lnT>
                      <a:noFill/>
                    </a:lnT>
                    <a:lnB>
                      <a:noFill/>
                    </a:lnB>
                  </a:tcPr>
                </a:tc>
                <a:tc>
                  <a:txBody>
                    <a:bodyPr/>
                    <a:lstStyle/>
                    <a:p>
                      <a:r>
                        <a:rPr lang="en-IN"/>
                        <a:t>Value</a:t>
                      </a:r>
                    </a:p>
                  </a:txBody>
                  <a:tcPr anchor="ctr">
                    <a:lnL>
                      <a:noFill/>
                    </a:lnL>
                    <a:lnR>
                      <a:noFill/>
                    </a:lnR>
                    <a:lnT>
                      <a:noFill/>
                    </a:lnT>
                    <a:lnB>
                      <a:noFill/>
                    </a:lnB>
                  </a:tcPr>
                </a:tc>
                <a:extLst>
                  <a:ext uri="{0D108BD9-81ED-4DB2-BD59-A6C34878D82A}">
                    <a16:rowId xmlns:a16="http://schemas.microsoft.com/office/drawing/2014/main" val="60307243"/>
                  </a:ext>
                </a:extLst>
              </a:tr>
              <a:tr h="315801">
                <a:tc>
                  <a:txBody>
                    <a:bodyPr/>
                    <a:lstStyle/>
                    <a:p>
                      <a:r>
                        <a:rPr lang="en-IN"/>
                        <a:t>Total Records</a:t>
                      </a:r>
                    </a:p>
                  </a:txBody>
                  <a:tcPr anchor="ctr">
                    <a:lnL>
                      <a:noFill/>
                    </a:lnL>
                    <a:lnR>
                      <a:noFill/>
                    </a:lnR>
                    <a:lnT>
                      <a:noFill/>
                    </a:lnT>
                    <a:lnB>
                      <a:noFill/>
                    </a:lnB>
                  </a:tcPr>
                </a:tc>
                <a:tc>
                  <a:txBody>
                    <a:bodyPr/>
                    <a:lstStyle/>
                    <a:p>
                      <a:r>
                        <a:rPr lang="en-IN"/>
                        <a:t>1000</a:t>
                      </a:r>
                    </a:p>
                  </a:txBody>
                  <a:tcPr anchor="ctr">
                    <a:lnL>
                      <a:noFill/>
                    </a:lnL>
                    <a:lnR>
                      <a:noFill/>
                    </a:lnR>
                    <a:lnT>
                      <a:noFill/>
                    </a:lnT>
                    <a:lnB>
                      <a:noFill/>
                    </a:lnB>
                  </a:tcPr>
                </a:tc>
                <a:extLst>
                  <a:ext uri="{0D108BD9-81ED-4DB2-BD59-A6C34878D82A}">
                    <a16:rowId xmlns:a16="http://schemas.microsoft.com/office/drawing/2014/main" val="435860502"/>
                  </a:ext>
                </a:extLst>
              </a:tr>
              <a:tr h="315801">
                <a:tc>
                  <a:txBody>
                    <a:bodyPr/>
                    <a:lstStyle/>
                    <a:p>
                      <a:r>
                        <a:rPr lang="en-IN"/>
                        <a:t>Branches</a:t>
                      </a:r>
                    </a:p>
                  </a:txBody>
                  <a:tcPr anchor="ctr">
                    <a:lnL>
                      <a:noFill/>
                    </a:lnL>
                    <a:lnR>
                      <a:noFill/>
                    </a:lnR>
                    <a:lnT>
                      <a:noFill/>
                    </a:lnT>
                    <a:lnB>
                      <a:noFill/>
                    </a:lnB>
                  </a:tcPr>
                </a:tc>
                <a:tc>
                  <a:txBody>
                    <a:bodyPr/>
                    <a:lstStyle/>
                    <a:p>
                      <a:r>
                        <a:rPr lang="en-IN" dirty="0"/>
                        <a:t>3</a:t>
                      </a:r>
                    </a:p>
                  </a:txBody>
                  <a:tcPr anchor="ctr">
                    <a:lnL>
                      <a:noFill/>
                    </a:lnL>
                    <a:lnR>
                      <a:noFill/>
                    </a:lnR>
                    <a:lnT>
                      <a:noFill/>
                    </a:lnT>
                    <a:lnB>
                      <a:noFill/>
                    </a:lnB>
                  </a:tcPr>
                </a:tc>
                <a:extLst>
                  <a:ext uri="{0D108BD9-81ED-4DB2-BD59-A6C34878D82A}">
                    <a16:rowId xmlns:a16="http://schemas.microsoft.com/office/drawing/2014/main" val="2614398035"/>
                  </a:ext>
                </a:extLst>
              </a:tr>
              <a:tr h="315801">
                <a:tc>
                  <a:txBody>
                    <a:bodyPr/>
                    <a:lstStyle/>
                    <a:p>
                      <a:r>
                        <a:rPr lang="en-IN" dirty="0"/>
                        <a:t>Cities</a:t>
                      </a:r>
                    </a:p>
                  </a:txBody>
                  <a:tcPr anchor="ctr">
                    <a:lnL>
                      <a:noFill/>
                    </a:lnL>
                    <a:lnR>
                      <a:noFill/>
                    </a:lnR>
                    <a:lnT>
                      <a:noFill/>
                    </a:lnT>
                    <a:lnB>
                      <a:noFill/>
                    </a:lnB>
                  </a:tcPr>
                </a:tc>
                <a:tc>
                  <a:txBody>
                    <a:bodyPr/>
                    <a:lstStyle/>
                    <a:p>
                      <a:r>
                        <a:rPr lang="en-IN"/>
                        <a:t>3</a:t>
                      </a:r>
                    </a:p>
                  </a:txBody>
                  <a:tcPr anchor="ctr">
                    <a:lnL>
                      <a:noFill/>
                    </a:lnL>
                    <a:lnR>
                      <a:noFill/>
                    </a:lnR>
                    <a:lnT>
                      <a:noFill/>
                    </a:lnT>
                    <a:lnB>
                      <a:noFill/>
                    </a:lnB>
                  </a:tcPr>
                </a:tc>
                <a:extLst>
                  <a:ext uri="{0D108BD9-81ED-4DB2-BD59-A6C34878D82A}">
                    <a16:rowId xmlns:a16="http://schemas.microsoft.com/office/drawing/2014/main" val="2692879389"/>
                  </a:ext>
                </a:extLst>
              </a:tr>
              <a:tr h="315801">
                <a:tc>
                  <a:txBody>
                    <a:bodyPr/>
                    <a:lstStyle/>
                    <a:p>
                      <a:r>
                        <a:rPr lang="en-IN"/>
                        <a:t>Product Lines</a:t>
                      </a:r>
                    </a:p>
                  </a:txBody>
                  <a:tcPr anchor="ctr">
                    <a:lnL>
                      <a:noFill/>
                    </a:lnL>
                    <a:lnR>
                      <a:noFill/>
                    </a:lnR>
                    <a:lnT>
                      <a:noFill/>
                    </a:lnT>
                    <a:lnB>
                      <a:noFill/>
                    </a:lnB>
                  </a:tcPr>
                </a:tc>
                <a:tc>
                  <a:txBody>
                    <a:bodyPr/>
                    <a:lstStyle/>
                    <a:p>
                      <a:r>
                        <a:rPr lang="en-IN"/>
                        <a:t>6</a:t>
                      </a:r>
                    </a:p>
                  </a:txBody>
                  <a:tcPr anchor="ctr">
                    <a:lnL>
                      <a:noFill/>
                    </a:lnL>
                    <a:lnR>
                      <a:noFill/>
                    </a:lnR>
                    <a:lnT>
                      <a:noFill/>
                    </a:lnT>
                    <a:lnB>
                      <a:noFill/>
                    </a:lnB>
                  </a:tcPr>
                </a:tc>
                <a:extLst>
                  <a:ext uri="{0D108BD9-81ED-4DB2-BD59-A6C34878D82A}">
                    <a16:rowId xmlns:a16="http://schemas.microsoft.com/office/drawing/2014/main" val="3081374084"/>
                  </a:ext>
                </a:extLst>
              </a:tr>
              <a:tr h="552652">
                <a:tc>
                  <a:txBody>
                    <a:bodyPr/>
                    <a:lstStyle/>
                    <a:p>
                      <a:r>
                        <a:rPr lang="en-IN" dirty="0"/>
                        <a:t>Payment Methods</a:t>
                      </a:r>
                    </a:p>
                  </a:txBody>
                  <a:tcPr anchor="ctr">
                    <a:lnL>
                      <a:noFill/>
                    </a:lnL>
                    <a:lnR>
                      <a:noFill/>
                    </a:lnR>
                    <a:lnT>
                      <a:noFill/>
                    </a:lnT>
                    <a:lnB>
                      <a:noFill/>
                    </a:lnB>
                  </a:tcPr>
                </a:tc>
                <a:tc>
                  <a:txBody>
                    <a:bodyPr/>
                    <a:lstStyle/>
                    <a:p>
                      <a:r>
                        <a:rPr lang="en-IN" dirty="0"/>
                        <a:t>3</a:t>
                      </a:r>
                    </a:p>
                  </a:txBody>
                  <a:tcPr anchor="ctr">
                    <a:lnL>
                      <a:noFill/>
                    </a:lnL>
                    <a:lnR>
                      <a:noFill/>
                    </a:lnR>
                    <a:lnT>
                      <a:noFill/>
                    </a:lnT>
                    <a:lnB>
                      <a:noFill/>
                    </a:lnB>
                  </a:tcPr>
                </a:tc>
                <a:extLst>
                  <a:ext uri="{0D108BD9-81ED-4DB2-BD59-A6C34878D82A}">
                    <a16:rowId xmlns:a16="http://schemas.microsoft.com/office/drawing/2014/main" val="1407548374"/>
                  </a:ext>
                </a:extLst>
              </a:tr>
              <a:tr h="315801">
                <a:tc>
                  <a:txBody>
                    <a:bodyPr/>
                    <a:lstStyle/>
                    <a:p>
                      <a:r>
                        <a:rPr lang="en-IN"/>
                        <a:t>Customer Types</a:t>
                      </a:r>
                    </a:p>
                  </a:txBody>
                  <a:tcPr anchor="ctr">
                    <a:lnL>
                      <a:noFill/>
                    </a:lnL>
                    <a:lnR>
                      <a:noFill/>
                    </a:lnR>
                    <a:lnT>
                      <a:noFill/>
                    </a:lnT>
                    <a:lnB>
                      <a:noFill/>
                    </a:lnB>
                  </a:tcPr>
                </a:tc>
                <a:tc>
                  <a:txBody>
                    <a:bodyPr/>
                    <a:lstStyle/>
                    <a:p>
                      <a:r>
                        <a:rPr lang="en-IN" dirty="0"/>
                        <a:t>2</a:t>
                      </a:r>
                    </a:p>
                  </a:txBody>
                  <a:tcPr anchor="ctr">
                    <a:lnL>
                      <a:noFill/>
                    </a:lnL>
                    <a:lnR>
                      <a:noFill/>
                    </a:lnR>
                    <a:lnT>
                      <a:noFill/>
                    </a:lnT>
                    <a:lnB>
                      <a:noFill/>
                    </a:lnB>
                  </a:tcPr>
                </a:tc>
                <a:extLst>
                  <a:ext uri="{0D108BD9-81ED-4DB2-BD59-A6C34878D82A}">
                    <a16:rowId xmlns:a16="http://schemas.microsoft.com/office/drawing/2014/main" val="4198455770"/>
                  </a:ext>
                </a:extLst>
              </a:tr>
            </a:tbl>
          </a:graphicData>
        </a:graphic>
      </p:graphicFrame>
      <p:sp>
        <p:nvSpPr>
          <p:cNvPr id="15" name="Content Placeholder 14">
            <a:extLst>
              <a:ext uri="{FF2B5EF4-FFF2-40B4-BE49-F238E27FC236}">
                <a16:creationId xmlns:a16="http://schemas.microsoft.com/office/drawing/2014/main" id="{68FC022D-82FC-4B94-AC63-5AB73D581154}"/>
              </a:ext>
            </a:extLst>
          </p:cNvPr>
          <p:cNvSpPr>
            <a:spLocks noGrp="1"/>
          </p:cNvSpPr>
          <p:nvPr>
            <p:ph sz="half" idx="2"/>
          </p:nvPr>
        </p:nvSpPr>
        <p:spPr>
          <a:xfrm>
            <a:off x="4648202" y="1307977"/>
            <a:ext cx="4038600" cy="5257800"/>
          </a:xfrm>
        </p:spPr>
        <p:txBody>
          <a:bodyPr>
            <a:normAutofit fontScale="77500" lnSpcReduction="20000"/>
          </a:bodyPr>
          <a:lstStyle/>
          <a:p>
            <a:pPr marL="0" indent="0">
              <a:buNone/>
            </a:pPr>
            <a:r>
              <a:rPr lang="en-GB" b="1" dirty="0"/>
              <a:t>Key Columns</a:t>
            </a:r>
          </a:p>
          <a:p>
            <a:pPr>
              <a:buFont typeface="Arial" panose="020B0604020202020204" pitchFamily="34" charset="0"/>
              <a:buChar char="•"/>
            </a:pPr>
            <a:r>
              <a:rPr lang="en-GB" dirty="0"/>
              <a:t>Invoice ID </a:t>
            </a:r>
          </a:p>
          <a:p>
            <a:pPr>
              <a:buFont typeface="Arial" panose="020B0604020202020204" pitchFamily="34" charset="0"/>
              <a:buChar char="•"/>
            </a:pPr>
            <a:r>
              <a:rPr lang="en-GB" dirty="0"/>
              <a:t>Branch </a:t>
            </a:r>
          </a:p>
          <a:p>
            <a:pPr>
              <a:buFont typeface="Arial" panose="020B0604020202020204" pitchFamily="34" charset="0"/>
              <a:buChar char="•"/>
            </a:pPr>
            <a:r>
              <a:rPr lang="en-GB" dirty="0"/>
              <a:t>City </a:t>
            </a:r>
          </a:p>
          <a:p>
            <a:pPr>
              <a:buFont typeface="Arial" panose="020B0604020202020204" pitchFamily="34" charset="0"/>
              <a:buChar char="•"/>
            </a:pPr>
            <a:r>
              <a:rPr lang="en-GB" dirty="0"/>
              <a:t>Customer Type </a:t>
            </a:r>
          </a:p>
          <a:p>
            <a:pPr>
              <a:buFont typeface="Arial" panose="020B0604020202020204" pitchFamily="34" charset="0"/>
              <a:buChar char="•"/>
            </a:pPr>
            <a:r>
              <a:rPr lang="en-GB" dirty="0"/>
              <a:t>Gender </a:t>
            </a:r>
          </a:p>
          <a:p>
            <a:pPr>
              <a:buFont typeface="Arial" panose="020B0604020202020204" pitchFamily="34" charset="0"/>
              <a:buChar char="•"/>
            </a:pPr>
            <a:r>
              <a:rPr lang="en-GB" dirty="0"/>
              <a:t>Product Line </a:t>
            </a:r>
          </a:p>
          <a:p>
            <a:pPr>
              <a:buFont typeface="Arial" panose="020B0604020202020204" pitchFamily="34" charset="0"/>
              <a:buChar char="•"/>
            </a:pPr>
            <a:r>
              <a:rPr lang="en-GB" dirty="0"/>
              <a:t>Total Sales </a:t>
            </a:r>
          </a:p>
          <a:p>
            <a:pPr>
              <a:buFont typeface="Arial" panose="020B0604020202020204" pitchFamily="34" charset="0"/>
              <a:buChar char="•"/>
            </a:pPr>
            <a:r>
              <a:rPr lang="en-GB" dirty="0"/>
              <a:t>Payment Method </a:t>
            </a:r>
          </a:p>
          <a:p>
            <a:pPr>
              <a:buFont typeface="Arial" panose="020B0604020202020204" pitchFamily="34" charset="0"/>
              <a:buChar char="•"/>
            </a:pPr>
            <a:r>
              <a:rPr lang="en-GB" dirty="0"/>
              <a:t>Rating</a:t>
            </a:r>
          </a:p>
          <a:p>
            <a:pPr marL="0" indent="0">
              <a:buNone/>
            </a:pPr>
            <a:r>
              <a:rPr lang="en-GB" dirty="0"/>
              <a:t> </a:t>
            </a:r>
          </a:p>
          <a:p>
            <a:pPr marL="0" indent="0">
              <a:buNone/>
            </a:pPr>
            <a:r>
              <a:rPr lang="en-GB" b="1" dirty="0"/>
              <a:t>Insight</a:t>
            </a:r>
          </a:p>
          <a:p>
            <a:r>
              <a:rPr lang="en-GB" dirty="0"/>
              <a:t>The dataset provides transaction-level sales information across multiple branches and cities.</a:t>
            </a:r>
          </a:p>
          <a:p>
            <a:pPr marL="0" indent="0">
              <a:buNone/>
            </a:pPr>
            <a:endParaRPr lang="en-IN" dirty="0"/>
          </a:p>
        </p:txBody>
      </p:sp>
    </p:spTree>
    <p:extLst>
      <p:ext uri="{BB962C8B-B14F-4D97-AF65-F5344CB8AC3E}">
        <p14:creationId xmlns:p14="http://schemas.microsoft.com/office/powerpoint/2010/main" val="147400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F6BF-BEF4-4582-8290-92A43B3A96C8}"/>
              </a:ext>
            </a:extLst>
          </p:cNvPr>
          <p:cNvSpPr>
            <a:spLocks noGrp="1"/>
          </p:cNvSpPr>
          <p:nvPr>
            <p:ph type="title"/>
          </p:nvPr>
        </p:nvSpPr>
        <p:spPr/>
        <p:txBody>
          <a:bodyPr/>
          <a:lstStyle/>
          <a:p>
            <a:r>
              <a:rPr lang="en-IN" dirty="0"/>
              <a:t>Data Cleaning &amp; </a:t>
            </a:r>
            <a:r>
              <a:rPr lang="en-IN" dirty="0" err="1"/>
              <a:t>Preprocessing</a:t>
            </a:r>
            <a:endParaRPr lang="en-IN" dirty="0"/>
          </a:p>
        </p:txBody>
      </p:sp>
      <p:sp>
        <p:nvSpPr>
          <p:cNvPr id="3" name="Content Placeholder 2">
            <a:extLst>
              <a:ext uri="{FF2B5EF4-FFF2-40B4-BE49-F238E27FC236}">
                <a16:creationId xmlns:a16="http://schemas.microsoft.com/office/drawing/2014/main" id="{6951B39C-5D8E-462C-A07E-AC5700C164DC}"/>
              </a:ext>
            </a:extLst>
          </p:cNvPr>
          <p:cNvSpPr>
            <a:spLocks noGrp="1"/>
          </p:cNvSpPr>
          <p:nvPr>
            <p:ph idx="1"/>
          </p:nvPr>
        </p:nvSpPr>
        <p:spPr/>
        <p:txBody>
          <a:bodyPr>
            <a:normAutofit fontScale="70000" lnSpcReduction="20000"/>
          </a:bodyPr>
          <a:lstStyle/>
          <a:p>
            <a:pPr marL="0" indent="0">
              <a:buNone/>
            </a:pPr>
            <a:r>
              <a:rPr lang="en-IN" sz="3400" b="1" dirty="0"/>
              <a:t>Cleaning Activities Performed</a:t>
            </a:r>
          </a:p>
          <a:p>
            <a:r>
              <a:rPr lang="en-IN" dirty="0"/>
              <a:t>✅ Missing Value Checks</a:t>
            </a:r>
          </a:p>
          <a:p>
            <a:r>
              <a:rPr lang="en-IN" dirty="0"/>
              <a:t>✅ Duplicate Record Validation</a:t>
            </a:r>
          </a:p>
          <a:p>
            <a:r>
              <a:rPr lang="en-IN" dirty="0"/>
              <a:t>✅ Date Conversion</a:t>
            </a:r>
          </a:p>
          <a:p>
            <a:r>
              <a:rPr lang="en-IN" dirty="0"/>
              <a:t>✅ Time Conversion</a:t>
            </a:r>
          </a:p>
          <a:p>
            <a:r>
              <a:rPr lang="en-IN" dirty="0"/>
              <a:t>✅ Data Type Validation</a:t>
            </a:r>
          </a:p>
          <a:p>
            <a:r>
              <a:rPr lang="en-IN" dirty="0"/>
              <a:t>✅ Outlier Detection</a:t>
            </a:r>
          </a:p>
          <a:p>
            <a:r>
              <a:rPr lang="en-IN" dirty="0"/>
              <a:t>✅ Business Rule Validation</a:t>
            </a:r>
          </a:p>
          <a:p>
            <a:pPr marL="0" indent="0">
              <a:buNone/>
            </a:pPr>
            <a:r>
              <a:rPr lang="en-IN" sz="3400" b="1" dirty="0"/>
              <a:t>Result</a:t>
            </a:r>
          </a:p>
          <a:p>
            <a:r>
              <a:rPr lang="en-IN" dirty="0"/>
              <a:t>The dataset was confirmed to be clean and ready for analysis.</a:t>
            </a:r>
          </a:p>
          <a:p>
            <a:pPr marL="0" indent="0">
              <a:buNone/>
            </a:pPr>
            <a:r>
              <a:rPr lang="en-IN" sz="3400" b="1" dirty="0"/>
              <a:t>Key Insight</a:t>
            </a:r>
          </a:p>
          <a:p>
            <a:r>
              <a:rPr lang="en-IN" dirty="0"/>
              <a:t>No major data quality issues were identified.</a:t>
            </a:r>
          </a:p>
        </p:txBody>
      </p:sp>
    </p:spTree>
    <p:extLst>
      <p:ext uri="{BB962C8B-B14F-4D97-AF65-F5344CB8AC3E}">
        <p14:creationId xmlns:p14="http://schemas.microsoft.com/office/powerpoint/2010/main" val="3820239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0" y="1125415"/>
            <a:ext cx="4473526" cy="5661927"/>
          </a:xfrm>
        </p:spPr>
        <p:txBody>
          <a:bodyPr>
            <a:normAutofit fontScale="90000"/>
          </a:bodyPr>
          <a:lstStyle/>
          <a:p>
            <a:pPr algn="l"/>
            <a:r>
              <a:rPr lang="en-GB" sz="2700" b="1" dirty="0"/>
              <a:t>Objective</a:t>
            </a:r>
            <a:br>
              <a:rPr lang="en-GB" sz="2700" b="1" dirty="0"/>
            </a:br>
            <a:r>
              <a:rPr lang="en-GB" sz="2700" dirty="0"/>
              <a:t>Identify incomplete records that may affect analysis accuracy.</a:t>
            </a:r>
            <a:br>
              <a:rPr lang="en-GB" sz="2700" dirty="0"/>
            </a:br>
            <a:r>
              <a:rPr lang="en-GB" sz="2700" b="1" dirty="0"/>
              <a:t>SQL Check</a:t>
            </a:r>
            <a:br>
              <a:rPr lang="en-GB" sz="2700" b="1" dirty="0"/>
            </a:br>
            <a:r>
              <a:rPr lang="en-GB" sz="2700" dirty="0"/>
              <a:t>Performed validation across all major columns.</a:t>
            </a:r>
            <a:br>
              <a:rPr lang="en-GB" sz="2700" dirty="0"/>
            </a:br>
            <a:r>
              <a:rPr lang="en-GB" sz="2700" b="1" dirty="0"/>
              <a:t>Result</a:t>
            </a:r>
            <a:br>
              <a:rPr lang="en-GB" sz="2700" b="1" dirty="0"/>
            </a:br>
            <a:r>
              <a:rPr lang="en-GB" sz="2700" dirty="0"/>
              <a:t>✅ No Missing Values Found</a:t>
            </a:r>
            <a:br>
              <a:rPr lang="en-GB" sz="2700" dirty="0"/>
            </a:br>
            <a:r>
              <a:rPr lang="en-GB" sz="2700" b="1" dirty="0"/>
              <a:t>Key Insight</a:t>
            </a:r>
            <a:br>
              <a:rPr lang="en-GB" sz="2700" b="1" dirty="0"/>
            </a:br>
            <a:r>
              <a:rPr lang="en-GB" sz="2700" dirty="0"/>
              <a:t>The dataset is 100% complete, ensuring reliable analysis and reporting.</a:t>
            </a:r>
            <a:br>
              <a:rPr lang="en-GB" sz="2700" dirty="0"/>
            </a:br>
            <a:r>
              <a:rPr lang="en-GB" sz="2700" b="1" dirty="0"/>
              <a:t>Recommendation</a:t>
            </a:r>
            <a:br>
              <a:rPr lang="en-GB" sz="2700" b="1" dirty="0"/>
            </a:br>
            <a:r>
              <a:rPr lang="en-GB" sz="2700" dirty="0"/>
              <a:t>Proceed with analysis without imputation or record removal.</a:t>
            </a:r>
            <a:br>
              <a:rPr lang="en-GB" sz="1000" dirty="0"/>
            </a:br>
            <a:endParaRPr lang="en-IN" sz="2000" dirty="0"/>
          </a:p>
        </p:txBody>
      </p:sp>
      <p:sp>
        <p:nvSpPr>
          <p:cNvPr id="4" name="Title 1"/>
          <p:cNvSpPr>
            <a:spLocks noGrp="1"/>
          </p:cNvSpPr>
          <p:nvPr>
            <p:ph type="title"/>
          </p:nvPr>
        </p:nvSpPr>
        <p:spPr>
          <a:xfrm>
            <a:off x="457200" y="70657"/>
            <a:ext cx="8229600" cy="815608"/>
          </a:xfrm>
        </p:spPr>
        <p:txBody>
          <a:bodyPr/>
          <a:lstStyle/>
          <a:p>
            <a:r>
              <a:rPr lang="en-IN" dirty="0"/>
              <a:t>Missing Value Analysis</a:t>
            </a:r>
            <a:endParaRPr dirty="0"/>
          </a:p>
        </p:txBody>
      </p:sp>
      <p:pic>
        <p:nvPicPr>
          <p:cNvPr id="6" name="Picture 5">
            <a:extLst>
              <a:ext uri="{FF2B5EF4-FFF2-40B4-BE49-F238E27FC236}">
                <a16:creationId xmlns:a16="http://schemas.microsoft.com/office/drawing/2014/main" id="{7A6660D2-C619-4713-844D-9114862A123D}"/>
              </a:ext>
            </a:extLst>
          </p:cNvPr>
          <p:cNvPicPr>
            <a:picLocks noChangeAspect="1"/>
          </p:cNvPicPr>
          <p:nvPr/>
        </p:nvPicPr>
        <p:blipFill>
          <a:blip r:embed="rId2"/>
          <a:stretch>
            <a:fillRect/>
          </a:stretch>
        </p:blipFill>
        <p:spPr>
          <a:xfrm>
            <a:off x="0" y="1245627"/>
            <a:ext cx="4318782" cy="5295850"/>
          </a:xfrm>
          <a:prstGeom prst="rect">
            <a:avLst/>
          </a:prstGeom>
          <a:ln w="15875">
            <a:solidFill>
              <a:schemeClr val="tx1"/>
            </a:solidFill>
          </a:ln>
          <a:effectLst>
            <a:softEdge rad="381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0" y="1252025"/>
            <a:ext cx="4114800" cy="5272186"/>
          </a:xfrm>
        </p:spPr>
        <p:txBody>
          <a:bodyPr>
            <a:normAutofit/>
          </a:bodyPr>
          <a:lstStyle/>
          <a:p>
            <a:pPr algn="l"/>
            <a:r>
              <a:rPr lang="en-GB" sz="2400" b="1" dirty="0"/>
              <a:t>Objective</a:t>
            </a:r>
            <a:br>
              <a:rPr lang="en-GB" sz="2400" b="1" dirty="0"/>
            </a:br>
            <a:r>
              <a:rPr lang="en-GB" sz="2400" dirty="0"/>
              <a:t>Ensure each transaction is unique.</a:t>
            </a:r>
            <a:br>
              <a:rPr lang="en-GB" sz="2400" dirty="0"/>
            </a:br>
            <a:r>
              <a:rPr lang="en-GB" sz="2400" b="1" dirty="0"/>
              <a:t>Result</a:t>
            </a:r>
            <a:br>
              <a:rPr lang="en-GB" sz="2400" b="1" dirty="0"/>
            </a:br>
            <a:r>
              <a:rPr lang="en-GB" sz="2400" dirty="0"/>
              <a:t>✅ No Duplicate Transactions Found</a:t>
            </a:r>
            <a:br>
              <a:rPr lang="en-GB" sz="2400" dirty="0"/>
            </a:br>
            <a:r>
              <a:rPr lang="en-GB" sz="2400" b="1" dirty="0"/>
              <a:t>Key Insight</a:t>
            </a:r>
            <a:br>
              <a:rPr lang="en-GB" sz="2400" b="1" dirty="0"/>
            </a:br>
            <a:r>
              <a:rPr lang="en-GB" sz="2400" dirty="0"/>
              <a:t>All sales records are unique and suitable for accurate aggregation.</a:t>
            </a:r>
            <a:br>
              <a:rPr lang="en-GB" sz="2400" dirty="0"/>
            </a:br>
            <a:r>
              <a:rPr lang="en-GB" sz="2400" b="1" dirty="0"/>
              <a:t>Recommendation</a:t>
            </a:r>
            <a:br>
              <a:rPr lang="en-GB" sz="2400" b="1" dirty="0"/>
            </a:br>
            <a:r>
              <a:rPr lang="en-GB" sz="2400" dirty="0"/>
              <a:t>No deduplication required.</a:t>
            </a:r>
            <a:br>
              <a:rPr lang="en-GB" sz="800" dirty="0"/>
            </a:br>
            <a:br>
              <a:rPr lang="en-GB" sz="1050" dirty="0"/>
            </a:br>
            <a:endParaRPr sz="2400" dirty="0"/>
          </a:p>
        </p:txBody>
      </p:sp>
      <p:sp>
        <p:nvSpPr>
          <p:cNvPr id="4" name="Title 1"/>
          <p:cNvSpPr>
            <a:spLocks noGrp="1"/>
          </p:cNvSpPr>
          <p:nvPr>
            <p:ph type="title"/>
          </p:nvPr>
        </p:nvSpPr>
        <p:spPr>
          <a:xfrm>
            <a:off x="457200" y="133960"/>
            <a:ext cx="8229600" cy="794508"/>
          </a:xfrm>
        </p:spPr>
        <p:txBody>
          <a:bodyPr/>
          <a:lstStyle/>
          <a:p>
            <a:r>
              <a:rPr lang="en-IN" dirty="0"/>
              <a:t>Duplicate Record Validation</a:t>
            </a:r>
            <a:endParaRPr dirty="0"/>
          </a:p>
        </p:txBody>
      </p:sp>
      <p:pic>
        <p:nvPicPr>
          <p:cNvPr id="6" name="Picture 5">
            <a:extLst>
              <a:ext uri="{FF2B5EF4-FFF2-40B4-BE49-F238E27FC236}">
                <a16:creationId xmlns:a16="http://schemas.microsoft.com/office/drawing/2014/main" id="{5AC46ED6-5955-451A-B70C-972A1645D2A4}"/>
              </a:ext>
            </a:extLst>
          </p:cNvPr>
          <p:cNvPicPr>
            <a:picLocks noChangeAspect="1"/>
          </p:cNvPicPr>
          <p:nvPr/>
        </p:nvPicPr>
        <p:blipFill>
          <a:blip r:embed="rId2"/>
          <a:stretch>
            <a:fillRect/>
          </a:stretch>
        </p:blipFill>
        <p:spPr>
          <a:xfrm>
            <a:off x="0" y="1664874"/>
            <a:ext cx="3879940" cy="3469831"/>
          </a:xfrm>
          <a:prstGeom prst="rect">
            <a:avLst/>
          </a:prstGeom>
          <a:ln w="12700">
            <a:solidFill>
              <a:schemeClr val="tx1">
                <a:alpha val="99000"/>
              </a:schemeClr>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4" y="4023360"/>
            <a:ext cx="8229600" cy="2672544"/>
          </a:xfrm>
        </p:spPr>
        <p:txBody>
          <a:bodyPr>
            <a:normAutofit fontScale="90000"/>
          </a:bodyPr>
          <a:lstStyle/>
          <a:p>
            <a:pPr algn="l"/>
            <a:br>
              <a:rPr lang="en-GB" dirty="0"/>
            </a:br>
            <a:r>
              <a:rPr lang="en-IN" sz="2700" b="1" dirty="0"/>
              <a:t>Objective :</a:t>
            </a:r>
            <a:r>
              <a:rPr lang="en-IN" sz="2700" dirty="0"/>
              <a:t>Ensure columns use appropriate data types.</a:t>
            </a:r>
            <a:br>
              <a:rPr lang="en-IN" sz="1100" dirty="0"/>
            </a:br>
            <a:r>
              <a:rPr lang="en-GB" sz="2700" b="1" dirty="0"/>
              <a:t>Result:</a:t>
            </a:r>
            <a:r>
              <a:rPr lang="en-GB" dirty="0"/>
              <a:t> </a:t>
            </a:r>
            <a:r>
              <a:rPr lang="en-GB" sz="2700" dirty="0"/>
              <a:t>Data Types Successfully Validated</a:t>
            </a:r>
            <a:br>
              <a:rPr lang="en-GB" sz="2700" dirty="0"/>
            </a:br>
            <a:r>
              <a:rPr lang="en-GB" sz="2700" b="1" dirty="0"/>
              <a:t>Key Insight :</a:t>
            </a:r>
            <a:r>
              <a:rPr lang="en-GB" sz="2700" dirty="0"/>
              <a:t>Proper data types improve query accuracy and performance.</a:t>
            </a:r>
            <a:br>
              <a:rPr lang="en-GB" sz="2700" dirty="0"/>
            </a:br>
            <a:r>
              <a:rPr lang="en-GB" sz="2700" b="1" dirty="0"/>
              <a:t>Recommendation: </a:t>
            </a:r>
            <a:r>
              <a:rPr lang="en-GB" sz="2700" dirty="0"/>
              <a:t>Continue using standardized formats for future data imports.</a:t>
            </a:r>
            <a:br>
              <a:rPr lang="en-GB" dirty="0"/>
            </a:br>
            <a:endParaRPr dirty="0"/>
          </a:p>
        </p:txBody>
      </p:sp>
      <p:sp>
        <p:nvSpPr>
          <p:cNvPr id="4" name="Title 1"/>
          <p:cNvSpPr>
            <a:spLocks noGrp="1"/>
          </p:cNvSpPr>
          <p:nvPr>
            <p:ph type="title"/>
          </p:nvPr>
        </p:nvSpPr>
        <p:spPr>
          <a:xfrm>
            <a:off x="358726" y="162096"/>
            <a:ext cx="8229600" cy="878913"/>
          </a:xfrm>
        </p:spPr>
        <p:txBody>
          <a:bodyPr/>
          <a:lstStyle/>
          <a:p>
            <a:r>
              <a:rPr lang="en-IN" dirty="0"/>
              <a:t>Data Type Conversion &amp; Validation</a:t>
            </a:r>
            <a:endParaRPr dirty="0"/>
          </a:p>
        </p:txBody>
      </p:sp>
      <p:pic>
        <p:nvPicPr>
          <p:cNvPr id="6" name="Picture 5">
            <a:extLst>
              <a:ext uri="{FF2B5EF4-FFF2-40B4-BE49-F238E27FC236}">
                <a16:creationId xmlns:a16="http://schemas.microsoft.com/office/drawing/2014/main" id="{801385A5-73B6-40A1-9E73-E8A6F6A8CDB3}"/>
              </a:ext>
            </a:extLst>
          </p:cNvPr>
          <p:cNvPicPr>
            <a:picLocks noChangeAspect="1"/>
          </p:cNvPicPr>
          <p:nvPr/>
        </p:nvPicPr>
        <p:blipFill>
          <a:blip r:embed="rId2"/>
          <a:stretch>
            <a:fillRect/>
          </a:stretch>
        </p:blipFill>
        <p:spPr>
          <a:xfrm>
            <a:off x="98474" y="1041008"/>
            <a:ext cx="8890782" cy="27854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GB" dirty="0"/>
              <a:t>Task 1 – Branch Sales Growth Rate Analysis</a:t>
            </a:r>
            <a:endParaRPr dirty="0"/>
          </a:p>
        </p:txBody>
      </p:sp>
      <p:pic>
        <p:nvPicPr>
          <p:cNvPr id="10" name="Picture 9">
            <a:extLst>
              <a:ext uri="{FF2B5EF4-FFF2-40B4-BE49-F238E27FC236}">
                <a16:creationId xmlns:a16="http://schemas.microsoft.com/office/drawing/2014/main" id="{75D21823-1F33-4E8E-9036-99319B508E70}"/>
              </a:ext>
            </a:extLst>
          </p:cNvPr>
          <p:cNvPicPr>
            <a:picLocks noChangeAspect="1"/>
          </p:cNvPicPr>
          <p:nvPr/>
        </p:nvPicPr>
        <p:blipFill>
          <a:blip r:embed="rId2"/>
          <a:stretch>
            <a:fillRect/>
          </a:stretch>
        </p:blipFill>
        <p:spPr>
          <a:xfrm>
            <a:off x="288387" y="1353567"/>
            <a:ext cx="3706838" cy="5229795"/>
          </a:xfrm>
          <a:prstGeom prst="rect">
            <a:avLst/>
          </a:prstGeom>
        </p:spPr>
      </p:pic>
      <p:pic>
        <p:nvPicPr>
          <p:cNvPr id="12" name="Picture 11">
            <a:extLst>
              <a:ext uri="{FF2B5EF4-FFF2-40B4-BE49-F238E27FC236}">
                <a16:creationId xmlns:a16="http://schemas.microsoft.com/office/drawing/2014/main" id="{3CAB3213-36C8-4DCB-8EFF-889D81B0CFAA}"/>
              </a:ext>
            </a:extLst>
          </p:cNvPr>
          <p:cNvPicPr>
            <a:picLocks noChangeAspect="1"/>
          </p:cNvPicPr>
          <p:nvPr/>
        </p:nvPicPr>
        <p:blipFill>
          <a:blip r:embed="rId3"/>
          <a:stretch>
            <a:fillRect/>
          </a:stretch>
        </p:blipFill>
        <p:spPr>
          <a:xfrm>
            <a:off x="5148777" y="1523967"/>
            <a:ext cx="3610479" cy="29776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58299"/>
            <a:ext cx="8229600" cy="780439"/>
          </a:xfrm>
        </p:spPr>
        <p:txBody>
          <a:bodyPr/>
          <a:lstStyle/>
          <a:p>
            <a:r>
              <a:rPr lang="en-IN" dirty="0"/>
              <a:t>Task 1 Results &amp; Visualization</a:t>
            </a:r>
            <a:endParaRPr dirty="0"/>
          </a:p>
        </p:txBody>
      </p:sp>
      <p:pic>
        <p:nvPicPr>
          <p:cNvPr id="8" name="Picture 7">
            <a:extLst>
              <a:ext uri="{FF2B5EF4-FFF2-40B4-BE49-F238E27FC236}">
                <a16:creationId xmlns:a16="http://schemas.microsoft.com/office/drawing/2014/main" id="{7CEE85A1-6A62-4476-B194-0631F79CBA3A}"/>
              </a:ext>
            </a:extLst>
          </p:cNvPr>
          <p:cNvPicPr>
            <a:picLocks noChangeAspect="1"/>
          </p:cNvPicPr>
          <p:nvPr/>
        </p:nvPicPr>
        <p:blipFill>
          <a:blip r:embed="rId2"/>
          <a:stretch>
            <a:fillRect/>
          </a:stretch>
        </p:blipFill>
        <p:spPr>
          <a:xfrm>
            <a:off x="-8356" y="3569995"/>
            <a:ext cx="4390442" cy="2751539"/>
          </a:xfrm>
          <a:prstGeom prst="rect">
            <a:avLst/>
          </a:prstGeom>
        </p:spPr>
      </p:pic>
      <p:pic>
        <p:nvPicPr>
          <p:cNvPr id="5" name="Picture 4">
            <a:extLst>
              <a:ext uri="{FF2B5EF4-FFF2-40B4-BE49-F238E27FC236}">
                <a16:creationId xmlns:a16="http://schemas.microsoft.com/office/drawing/2014/main" id="{CE79B1B5-1B2A-4208-B56E-BAB72CD0EBF9}"/>
              </a:ext>
            </a:extLst>
          </p:cNvPr>
          <p:cNvPicPr>
            <a:picLocks noChangeAspect="1"/>
          </p:cNvPicPr>
          <p:nvPr/>
        </p:nvPicPr>
        <p:blipFill>
          <a:blip r:embed="rId3"/>
          <a:stretch>
            <a:fillRect/>
          </a:stretch>
        </p:blipFill>
        <p:spPr>
          <a:xfrm>
            <a:off x="126610" y="1417638"/>
            <a:ext cx="3538023" cy="1675906"/>
          </a:xfrm>
          <a:prstGeom prst="rect">
            <a:avLst/>
          </a:prstGeom>
        </p:spPr>
      </p:pic>
      <p:sp>
        <p:nvSpPr>
          <p:cNvPr id="7" name="TextBox 6">
            <a:extLst>
              <a:ext uri="{FF2B5EF4-FFF2-40B4-BE49-F238E27FC236}">
                <a16:creationId xmlns:a16="http://schemas.microsoft.com/office/drawing/2014/main" id="{D2335610-83B6-40FE-B4AC-0C7C5AEA81D6}"/>
              </a:ext>
            </a:extLst>
          </p:cNvPr>
          <p:cNvSpPr txBox="1"/>
          <p:nvPr/>
        </p:nvSpPr>
        <p:spPr>
          <a:xfrm>
            <a:off x="4515730" y="1307837"/>
            <a:ext cx="4628270" cy="5632311"/>
          </a:xfrm>
          <a:prstGeom prst="rect">
            <a:avLst/>
          </a:prstGeom>
          <a:noFill/>
        </p:spPr>
        <p:txBody>
          <a:bodyPr wrap="square">
            <a:spAutoFit/>
          </a:bodyPr>
          <a:lstStyle/>
          <a:p>
            <a:r>
              <a:rPr lang="en-GB" sz="2000" b="1" dirty="0"/>
              <a:t>Key Insights</a:t>
            </a:r>
          </a:p>
          <a:p>
            <a:pPr>
              <a:buFont typeface="Arial" panose="020B0604020202020204" pitchFamily="34" charset="0"/>
              <a:buChar char="•"/>
            </a:pPr>
            <a:r>
              <a:rPr lang="en-GB" sz="2000" dirty="0"/>
              <a:t>Branch A achieved the highest average sales growth rate of </a:t>
            </a:r>
            <a:r>
              <a:rPr lang="en-GB" sz="2000" b="1" dirty="0"/>
              <a:t>1.66%</a:t>
            </a:r>
            <a:r>
              <a:rPr lang="en-GB" sz="2000" dirty="0"/>
              <a:t>. </a:t>
            </a:r>
          </a:p>
          <a:p>
            <a:pPr>
              <a:buFont typeface="Arial" panose="020B0604020202020204" pitchFamily="34" charset="0"/>
              <a:buChar char="•"/>
            </a:pPr>
            <a:r>
              <a:rPr lang="en-GB" sz="2000" dirty="0"/>
              <a:t>Branches B and C experienced negative sales growth. </a:t>
            </a:r>
          </a:p>
          <a:p>
            <a:pPr>
              <a:buFont typeface="Arial" panose="020B0604020202020204" pitchFamily="34" charset="0"/>
              <a:buChar char="•"/>
            </a:pPr>
            <a:r>
              <a:rPr lang="en-GB" sz="2000" dirty="0"/>
              <a:t>Branch B recorded the lowest growth rate at </a:t>
            </a:r>
            <a:r>
              <a:rPr lang="en-GB" sz="2000" b="1" dirty="0"/>
              <a:t>-3.45%</a:t>
            </a:r>
            <a:r>
              <a:rPr lang="en-GB" sz="2000" dirty="0"/>
              <a:t>. </a:t>
            </a:r>
          </a:p>
          <a:p>
            <a:pPr>
              <a:buFont typeface="Arial" panose="020B0604020202020204" pitchFamily="34" charset="0"/>
              <a:buChar char="•"/>
            </a:pPr>
            <a:r>
              <a:rPr lang="en-GB" sz="2000" dirty="0"/>
              <a:t>Sales performance varies significantly across branches. </a:t>
            </a:r>
          </a:p>
          <a:p>
            <a:r>
              <a:rPr lang="en-GB" sz="2000" b="1" dirty="0"/>
              <a:t>Recommendations</a:t>
            </a:r>
          </a:p>
          <a:p>
            <a:pPr>
              <a:buFont typeface="Arial" panose="020B0604020202020204" pitchFamily="34" charset="0"/>
              <a:buChar char="•"/>
            </a:pPr>
            <a:r>
              <a:rPr lang="en-GB" sz="2000" dirty="0"/>
              <a:t>Study Branch A's sales strategies and replicate them. </a:t>
            </a:r>
          </a:p>
          <a:p>
            <a:pPr>
              <a:buFont typeface="Arial" panose="020B0604020202020204" pitchFamily="34" charset="0"/>
              <a:buChar char="•"/>
            </a:pPr>
            <a:r>
              <a:rPr lang="en-GB" sz="2000" dirty="0"/>
              <a:t>Investigate causes of declining sales in Branches B and C. </a:t>
            </a:r>
          </a:p>
          <a:p>
            <a:pPr>
              <a:buFont typeface="Arial" panose="020B0604020202020204" pitchFamily="34" charset="0"/>
              <a:buChar char="•"/>
            </a:pPr>
            <a:r>
              <a:rPr lang="en-GB" sz="2000" dirty="0"/>
              <a:t>Launch branch-specific marketing campaigns. </a:t>
            </a:r>
          </a:p>
          <a:p>
            <a:pPr>
              <a:buFont typeface="Arial" panose="020B0604020202020204" pitchFamily="34" charset="0"/>
              <a:buChar char="•"/>
            </a:pPr>
            <a:r>
              <a:rPr lang="en-GB" sz="2000" dirty="0"/>
              <a:t>Monitor monthly growth trends continuously</a:t>
            </a:r>
            <a:r>
              <a:rPr lang="en-GB"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GB" dirty="0"/>
              <a:t>Task 2 – Most Profitable Product Line by Branch</a:t>
            </a:r>
            <a:endParaRPr dirty="0"/>
          </a:p>
        </p:txBody>
      </p:sp>
      <p:pic>
        <p:nvPicPr>
          <p:cNvPr id="6" name="Picture 5">
            <a:extLst>
              <a:ext uri="{FF2B5EF4-FFF2-40B4-BE49-F238E27FC236}">
                <a16:creationId xmlns:a16="http://schemas.microsoft.com/office/drawing/2014/main" id="{95909BF5-3D60-4D08-8666-371E0164FAF9}"/>
              </a:ext>
            </a:extLst>
          </p:cNvPr>
          <p:cNvPicPr>
            <a:picLocks noChangeAspect="1"/>
          </p:cNvPicPr>
          <p:nvPr/>
        </p:nvPicPr>
        <p:blipFill>
          <a:blip r:embed="rId2"/>
          <a:stretch>
            <a:fillRect/>
          </a:stretch>
        </p:blipFill>
        <p:spPr>
          <a:xfrm>
            <a:off x="208099" y="1417638"/>
            <a:ext cx="4001058" cy="5043998"/>
          </a:xfrm>
          <a:prstGeom prst="rect">
            <a:avLst/>
          </a:prstGeom>
        </p:spPr>
      </p:pic>
      <p:pic>
        <p:nvPicPr>
          <p:cNvPr id="8" name="Picture 7">
            <a:extLst>
              <a:ext uri="{FF2B5EF4-FFF2-40B4-BE49-F238E27FC236}">
                <a16:creationId xmlns:a16="http://schemas.microsoft.com/office/drawing/2014/main" id="{AE5858E1-3C35-434D-BA9F-57BBD6C85A17}"/>
              </a:ext>
            </a:extLst>
          </p:cNvPr>
          <p:cNvPicPr>
            <a:picLocks noChangeAspect="1"/>
          </p:cNvPicPr>
          <p:nvPr/>
        </p:nvPicPr>
        <p:blipFill>
          <a:blip r:embed="rId3"/>
          <a:stretch>
            <a:fillRect/>
          </a:stretch>
        </p:blipFill>
        <p:spPr>
          <a:xfrm>
            <a:off x="5023792" y="2314418"/>
            <a:ext cx="3459026" cy="225758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87262"/>
            <a:ext cx="8229600" cy="3077625"/>
          </a:xfrm>
        </p:spPr>
        <p:txBody>
          <a:bodyPr>
            <a:noAutofit/>
          </a:bodyPr>
          <a:lstStyle/>
          <a:p>
            <a:pPr algn="l"/>
            <a:r>
              <a:rPr lang="en-GB" sz="2000" b="1" dirty="0"/>
              <a:t>Key Insights</a:t>
            </a:r>
            <a:br>
              <a:rPr lang="en-GB" sz="2000" b="1" dirty="0"/>
            </a:br>
            <a:r>
              <a:rPr lang="en-GB" sz="2000" dirty="0"/>
              <a:t>Branch A's most profitable category is </a:t>
            </a:r>
            <a:r>
              <a:rPr lang="en-GB" sz="2000" b="1" dirty="0"/>
              <a:t>Home &amp; Lifestyle</a:t>
            </a:r>
            <a:r>
              <a:rPr lang="en-GB" sz="2000" dirty="0"/>
              <a:t>. </a:t>
            </a:r>
            <a:br>
              <a:rPr lang="en-GB" sz="2000" dirty="0"/>
            </a:br>
            <a:r>
              <a:rPr lang="en-GB" sz="2000" dirty="0"/>
              <a:t>Branch B performs best in </a:t>
            </a:r>
            <a:r>
              <a:rPr lang="en-GB" sz="2000" b="1" dirty="0"/>
              <a:t>Sports &amp; Travel</a:t>
            </a:r>
            <a:r>
              <a:rPr lang="en-GB" sz="2000" dirty="0"/>
              <a:t>. </a:t>
            </a:r>
            <a:br>
              <a:rPr lang="en-GB" sz="2000" dirty="0"/>
            </a:br>
            <a:r>
              <a:rPr lang="en-GB" sz="2000" dirty="0"/>
              <a:t>Branch C generates the highest profit from </a:t>
            </a:r>
            <a:r>
              <a:rPr lang="en-GB" sz="2000" b="1" dirty="0"/>
              <a:t>Food &amp; Beverages</a:t>
            </a:r>
            <a:r>
              <a:rPr lang="en-GB" sz="2000" dirty="0"/>
              <a:t>. </a:t>
            </a:r>
            <a:br>
              <a:rPr lang="en-GB" sz="2000" dirty="0"/>
            </a:br>
            <a:r>
              <a:rPr lang="en-GB" sz="2000" dirty="0"/>
              <a:t>Product profitability differs across branches. </a:t>
            </a:r>
            <a:br>
              <a:rPr lang="en-GB" sz="2000" dirty="0"/>
            </a:br>
            <a:r>
              <a:rPr lang="en-GB" sz="2000" b="1" dirty="0"/>
              <a:t>Recommendations</a:t>
            </a:r>
            <a:br>
              <a:rPr lang="en-GB" sz="2000" b="1" dirty="0"/>
            </a:br>
            <a:r>
              <a:rPr lang="en-GB" sz="2000" dirty="0"/>
              <a:t>Increase inventory for top-performing product lines. </a:t>
            </a:r>
            <a:br>
              <a:rPr lang="en-GB" sz="2000" dirty="0"/>
            </a:br>
            <a:r>
              <a:rPr lang="en-GB" sz="2000" dirty="0"/>
              <a:t>Design branch-specific promotional campaigns. </a:t>
            </a:r>
            <a:br>
              <a:rPr lang="en-GB" sz="2000" dirty="0"/>
            </a:br>
            <a:r>
              <a:rPr lang="en-GB" sz="2000" dirty="0"/>
              <a:t>Improve visibility of profitable categories. </a:t>
            </a:r>
            <a:br>
              <a:rPr lang="en-GB" sz="2000" dirty="0"/>
            </a:br>
            <a:r>
              <a:rPr lang="en-GB" sz="2000" dirty="0"/>
              <a:t>Optimize shelf space allocation.</a:t>
            </a:r>
            <a:br>
              <a:rPr lang="en-GB" sz="1800" dirty="0"/>
            </a:br>
            <a:endParaRPr sz="1800" dirty="0"/>
          </a:p>
        </p:txBody>
      </p:sp>
      <p:sp>
        <p:nvSpPr>
          <p:cNvPr id="4" name="Title 1"/>
          <p:cNvSpPr>
            <a:spLocks noGrp="1"/>
          </p:cNvSpPr>
          <p:nvPr>
            <p:ph type="title"/>
          </p:nvPr>
        </p:nvSpPr>
        <p:spPr>
          <a:xfrm>
            <a:off x="457200" y="24301"/>
            <a:ext cx="8229600" cy="608747"/>
          </a:xfrm>
        </p:spPr>
        <p:txBody>
          <a:bodyPr>
            <a:normAutofit fontScale="90000"/>
          </a:bodyPr>
          <a:lstStyle/>
          <a:p>
            <a:r>
              <a:rPr lang="en-IN" dirty="0"/>
              <a:t>Task 2 Visualization</a:t>
            </a:r>
            <a:endParaRPr dirty="0"/>
          </a:p>
        </p:txBody>
      </p:sp>
      <p:pic>
        <p:nvPicPr>
          <p:cNvPr id="8" name="Picture 7">
            <a:extLst>
              <a:ext uri="{FF2B5EF4-FFF2-40B4-BE49-F238E27FC236}">
                <a16:creationId xmlns:a16="http://schemas.microsoft.com/office/drawing/2014/main" id="{767BE3E1-B424-4D77-A6F3-BB138ED8F36F}"/>
              </a:ext>
            </a:extLst>
          </p:cNvPr>
          <p:cNvPicPr>
            <a:picLocks noChangeAspect="1"/>
          </p:cNvPicPr>
          <p:nvPr/>
        </p:nvPicPr>
        <p:blipFill>
          <a:blip r:embed="rId2"/>
          <a:stretch>
            <a:fillRect/>
          </a:stretch>
        </p:blipFill>
        <p:spPr>
          <a:xfrm>
            <a:off x="607765" y="633048"/>
            <a:ext cx="6946586" cy="27959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71936"/>
            <a:ext cx="8229600" cy="836710"/>
          </a:xfrm>
        </p:spPr>
        <p:txBody>
          <a:bodyPr>
            <a:normAutofit fontScale="90000"/>
          </a:bodyPr>
          <a:lstStyle/>
          <a:p>
            <a:r>
              <a:rPr lang="en-GB" dirty="0"/>
              <a:t>Task 3 – Customer Spending Segmentation</a:t>
            </a:r>
            <a:endParaRPr dirty="0"/>
          </a:p>
        </p:txBody>
      </p:sp>
      <p:pic>
        <p:nvPicPr>
          <p:cNvPr id="6" name="Picture 5">
            <a:extLst>
              <a:ext uri="{FF2B5EF4-FFF2-40B4-BE49-F238E27FC236}">
                <a16:creationId xmlns:a16="http://schemas.microsoft.com/office/drawing/2014/main" id="{0B94ABAF-D1A1-4A29-A65D-435F127D5518}"/>
              </a:ext>
            </a:extLst>
          </p:cNvPr>
          <p:cNvPicPr>
            <a:picLocks noChangeAspect="1"/>
          </p:cNvPicPr>
          <p:nvPr/>
        </p:nvPicPr>
        <p:blipFill>
          <a:blip r:embed="rId2"/>
          <a:stretch>
            <a:fillRect/>
          </a:stretch>
        </p:blipFill>
        <p:spPr>
          <a:xfrm>
            <a:off x="246185" y="1242824"/>
            <a:ext cx="4630083" cy="5509668"/>
          </a:xfrm>
          <a:prstGeom prst="rect">
            <a:avLst/>
          </a:prstGeom>
        </p:spPr>
      </p:pic>
      <p:pic>
        <p:nvPicPr>
          <p:cNvPr id="5" name="Picture 4">
            <a:extLst>
              <a:ext uri="{FF2B5EF4-FFF2-40B4-BE49-F238E27FC236}">
                <a16:creationId xmlns:a16="http://schemas.microsoft.com/office/drawing/2014/main" id="{64F20393-6886-42D6-BD3E-CBF7AE3BD8F3}"/>
              </a:ext>
            </a:extLst>
          </p:cNvPr>
          <p:cNvPicPr>
            <a:picLocks noChangeAspect="1"/>
          </p:cNvPicPr>
          <p:nvPr/>
        </p:nvPicPr>
        <p:blipFill>
          <a:blip r:embed="rId3"/>
          <a:stretch>
            <a:fillRect/>
          </a:stretch>
        </p:blipFill>
        <p:spPr>
          <a:xfrm>
            <a:off x="4924209" y="1242824"/>
            <a:ext cx="3762591" cy="50248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3525" y="984737"/>
            <a:ext cx="3960055" cy="5799725"/>
          </a:xfrm>
        </p:spPr>
        <p:txBody>
          <a:bodyPr>
            <a:normAutofit fontScale="90000"/>
          </a:bodyPr>
          <a:lstStyle/>
          <a:p>
            <a:pPr algn="l"/>
            <a:r>
              <a:rPr lang="en-GB" sz="2400" b="1" dirty="0"/>
              <a:t>Key Insights</a:t>
            </a:r>
            <a:br>
              <a:rPr lang="en-GB" sz="2400" b="1" dirty="0"/>
            </a:br>
            <a:r>
              <a:rPr lang="en-GB" sz="2400" b="1" dirty="0"/>
              <a:t>60%</a:t>
            </a:r>
            <a:r>
              <a:rPr lang="en-GB" sz="2400" dirty="0"/>
              <a:t> of customers belong to the Medium spending segment. </a:t>
            </a:r>
            <a:br>
              <a:rPr lang="en-GB" sz="2400" dirty="0"/>
            </a:br>
            <a:r>
              <a:rPr lang="en-GB" sz="2400" dirty="0"/>
              <a:t>High-value customers account for </a:t>
            </a:r>
            <a:r>
              <a:rPr lang="en-GB" sz="2400" b="1" dirty="0"/>
              <a:t>20%</a:t>
            </a:r>
            <a:r>
              <a:rPr lang="en-GB" sz="2400" dirty="0"/>
              <a:t>. </a:t>
            </a:r>
            <a:br>
              <a:rPr lang="en-GB" sz="2400" dirty="0"/>
            </a:br>
            <a:r>
              <a:rPr lang="en-GB" sz="2400" dirty="0"/>
              <a:t>Low-spending customers account for </a:t>
            </a:r>
            <a:r>
              <a:rPr lang="en-GB" sz="2400" b="1" dirty="0"/>
              <a:t>20%</a:t>
            </a:r>
            <a:r>
              <a:rPr lang="en-GB" sz="2400" dirty="0"/>
              <a:t>. </a:t>
            </a:r>
            <a:br>
              <a:rPr lang="en-GB" sz="2400" dirty="0"/>
            </a:br>
            <a:r>
              <a:rPr lang="en-GB" sz="2400" dirty="0"/>
              <a:t>Revenue is concentrated among a small group of customers. </a:t>
            </a:r>
            <a:br>
              <a:rPr lang="en-GB" sz="2400" dirty="0"/>
            </a:br>
            <a:r>
              <a:rPr lang="en-GB" sz="2400" b="1" dirty="0"/>
              <a:t>Recommendations</a:t>
            </a:r>
            <a:br>
              <a:rPr lang="en-GB" sz="2400" b="1" dirty="0"/>
            </a:br>
            <a:r>
              <a:rPr lang="en-GB" sz="2400" dirty="0"/>
              <a:t>Create loyalty programs for high-value customers. </a:t>
            </a:r>
            <a:br>
              <a:rPr lang="en-GB" sz="2400" dirty="0"/>
            </a:br>
            <a:r>
              <a:rPr lang="en-GB" sz="2400" dirty="0"/>
              <a:t>Upsell medium-spending customers. </a:t>
            </a:r>
            <a:br>
              <a:rPr lang="en-GB" sz="2400" dirty="0"/>
            </a:br>
            <a:r>
              <a:rPr lang="en-GB" sz="2400" dirty="0"/>
              <a:t>Offer personalized discounts to low-spending customers. </a:t>
            </a:r>
            <a:br>
              <a:rPr lang="en-GB" sz="2400" dirty="0"/>
            </a:br>
            <a:r>
              <a:rPr lang="en-GB" sz="2400" dirty="0"/>
              <a:t>Implement customer retention initiatives.</a:t>
            </a:r>
            <a:br>
              <a:rPr lang="en-GB" sz="1050" dirty="0"/>
            </a:br>
            <a:endParaRPr sz="2400" dirty="0"/>
          </a:p>
        </p:txBody>
      </p:sp>
      <p:sp>
        <p:nvSpPr>
          <p:cNvPr id="4" name="Title 1"/>
          <p:cNvSpPr>
            <a:spLocks noGrp="1"/>
          </p:cNvSpPr>
          <p:nvPr>
            <p:ph type="title"/>
          </p:nvPr>
        </p:nvSpPr>
        <p:spPr>
          <a:xfrm>
            <a:off x="457200" y="31334"/>
            <a:ext cx="8229600" cy="657983"/>
          </a:xfrm>
        </p:spPr>
        <p:txBody>
          <a:bodyPr>
            <a:normAutofit fontScale="90000"/>
          </a:bodyPr>
          <a:lstStyle/>
          <a:p>
            <a:r>
              <a:rPr lang="en-IN" dirty="0"/>
              <a:t>Task 3 Visualization</a:t>
            </a:r>
            <a:endParaRPr dirty="0"/>
          </a:p>
        </p:txBody>
      </p:sp>
      <p:pic>
        <p:nvPicPr>
          <p:cNvPr id="5" name="Picture 4">
            <a:extLst>
              <a:ext uri="{FF2B5EF4-FFF2-40B4-BE49-F238E27FC236}">
                <a16:creationId xmlns:a16="http://schemas.microsoft.com/office/drawing/2014/main" id="{5DCDE784-D735-438D-99B3-1BEF5F472920}"/>
              </a:ext>
            </a:extLst>
          </p:cNvPr>
          <p:cNvPicPr>
            <a:picLocks noChangeAspect="1"/>
          </p:cNvPicPr>
          <p:nvPr/>
        </p:nvPicPr>
        <p:blipFill>
          <a:blip r:embed="rId2"/>
          <a:stretch>
            <a:fillRect/>
          </a:stretch>
        </p:blipFill>
        <p:spPr>
          <a:xfrm>
            <a:off x="344749" y="689317"/>
            <a:ext cx="3974032" cy="33078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IN" dirty="0"/>
              <a:t>Task 4 – Anomaly Detection</a:t>
            </a:r>
            <a:endParaRPr dirty="0"/>
          </a:p>
        </p:txBody>
      </p:sp>
      <p:pic>
        <p:nvPicPr>
          <p:cNvPr id="5" name="Picture 4">
            <a:extLst>
              <a:ext uri="{FF2B5EF4-FFF2-40B4-BE49-F238E27FC236}">
                <a16:creationId xmlns:a16="http://schemas.microsoft.com/office/drawing/2014/main" id="{03B5292F-41A6-4A74-9000-6259A3CC1BDE}"/>
              </a:ext>
            </a:extLst>
          </p:cNvPr>
          <p:cNvPicPr>
            <a:picLocks noChangeAspect="1"/>
          </p:cNvPicPr>
          <p:nvPr/>
        </p:nvPicPr>
        <p:blipFill>
          <a:blip r:embed="rId2"/>
          <a:stretch>
            <a:fillRect/>
          </a:stretch>
        </p:blipFill>
        <p:spPr>
          <a:xfrm>
            <a:off x="330283" y="1417637"/>
            <a:ext cx="3884212" cy="5292651"/>
          </a:xfrm>
          <a:prstGeom prst="rect">
            <a:avLst/>
          </a:prstGeom>
        </p:spPr>
      </p:pic>
      <p:pic>
        <p:nvPicPr>
          <p:cNvPr id="7" name="Picture 6">
            <a:extLst>
              <a:ext uri="{FF2B5EF4-FFF2-40B4-BE49-F238E27FC236}">
                <a16:creationId xmlns:a16="http://schemas.microsoft.com/office/drawing/2014/main" id="{93612662-DF7E-488D-902C-88E35001042F}"/>
              </a:ext>
            </a:extLst>
          </p:cNvPr>
          <p:cNvPicPr>
            <a:picLocks noChangeAspect="1"/>
          </p:cNvPicPr>
          <p:nvPr/>
        </p:nvPicPr>
        <p:blipFill>
          <a:blip r:embed="rId3"/>
          <a:stretch>
            <a:fillRect/>
          </a:stretch>
        </p:blipFill>
        <p:spPr>
          <a:xfrm>
            <a:off x="4443699" y="1417636"/>
            <a:ext cx="4605939" cy="5165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456" y="1417638"/>
            <a:ext cx="8229600" cy="4983162"/>
          </a:xfrm>
        </p:spPr>
        <p:txBody>
          <a:bodyPr>
            <a:normAutofit/>
          </a:bodyPr>
          <a:lstStyle/>
          <a:p>
            <a:pPr algn="l"/>
            <a:r>
              <a:rPr lang="en-GB" sz="2400" b="1" dirty="0"/>
              <a:t>Key Insights</a:t>
            </a:r>
            <a:br>
              <a:rPr lang="en-GB" sz="2400" b="1" dirty="0"/>
            </a:br>
            <a:r>
              <a:rPr lang="en-GB" sz="2400" dirty="0"/>
              <a:t>Multiple transactions show unusually high sales values. </a:t>
            </a:r>
            <a:br>
              <a:rPr lang="en-GB" sz="2400" dirty="0"/>
            </a:br>
            <a:r>
              <a:rPr lang="en-GB" sz="2400" dirty="0"/>
              <a:t>Some product lines contain more anomalies than others. </a:t>
            </a:r>
            <a:br>
              <a:rPr lang="en-GB" sz="2400" dirty="0"/>
            </a:br>
            <a:r>
              <a:rPr lang="en-GB" sz="2400" dirty="0"/>
              <a:t>Potential bulk purchases or exceptional transactions exist. </a:t>
            </a:r>
            <a:br>
              <a:rPr lang="en-GB" sz="2400" dirty="0"/>
            </a:br>
            <a:r>
              <a:rPr lang="en-GB" sz="2400" dirty="0"/>
              <a:t>Outliers can significantly impact performance metrics. </a:t>
            </a:r>
            <a:br>
              <a:rPr lang="en-GB" sz="2400" dirty="0"/>
            </a:br>
            <a:r>
              <a:rPr lang="en-GB" sz="2400" b="1" dirty="0"/>
              <a:t>Recommendations</a:t>
            </a:r>
            <a:br>
              <a:rPr lang="en-GB" sz="2400" b="1" dirty="0"/>
            </a:br>
            <a:r>
              <a:rPr lang="en-GB" sz="2400" dirty="0"/>
              <a:t>Monitor abnormal transactions regularly. </a:t>
            </a:r>
            <a:br>
              <a:rPr lang="en-GB" sz="2400" dirty="0"/>
            </a:br>
            <a:r>
              <a:rPr lang="en-GB" sz="2400" dirty="0"/>
              <a:t>Verify unusually high-value purchases. </a:t>
            </a:r>
            <a:br>
              <a:rPr lang="en-GB" sz="2400" dirty="0"/>
            </a:br>
            <a:r>
              <a:rPr lang="en-GB" sz="2400" dirty="0"/>
              <a:t>Implement fraud detection mechanisms. </a:t>
            </a:r>
            <a:br>
              <a:rPr lang="en-GB" sz="2400" dirty="0"/>
            </a:br>
            <a:r>
              <a:rPr lang="en-GB" sz="2400" dirty="0"/>
              <a:t>Use anomaly alerts for operational monitoring.</a:t>
            </a:r>
            <a:br>
              <a:rPr lang="en-GB" sz="1800" dirty="0"/>
            </a:br>
            <a:endParaRPr lang="en-IN" sz="1800" dirty="0"/>
          </a:p>
        </p:txBody>
      </p:sp>
      <p:sp>
        <p:nvSpPr>
          <p:cNvPr id="4" name="Title 1"/>
          <p:cNvSpPr>
            <a:spLocks noGrp="1"/>
          </p:cNvSpPr>
          <p:nvPr>
            <p:ph type="title"/>
          </p:nvPr>
        </p:nvSpPr>
        <p:spPr/>
        <p:txBody>
          <a:bodyPr/>
          <a:lstStyle/>
          <a:p>
            <a:r>
              <a:rPr lang="en-IN" dirty="0"/>
              <a:t>Task 4 Findings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841523"/>
          </a:xfrm>
        </p:spPr>
        <p:txBody>
          <a:bodyPr/>
          <a:lstStyle/>
          <a:p>
            <a:r>
              <a:rPr lang="en-GB" dirty="0"/>
              <a:t>Task 5 – Payment Method Analysis</a:t>
            </a:r>
            <a:endParaRPr dirty="0"/>
          </a:p>
        </p:txBody>
      </p:sp>
      <p:pic>
        <p:nvPicPr>
          <p:cNvPr id="5" name="Picture 4">
            <a:extLst>
              <a:ext uri="{FF2B5EF4-FFF2-40B4-BE49-F238E27FC236}">
                <a16:creationId xmlns:a16="http://schemas.microsoft.com/office/drawing/2014/main" id="{731322D7-CCE4-4B2C-9258-CE389AC75212}"/>
              </a:ext>
            </a:extLst>
          </p:cNvPr>
          <p:cNvPicPr>
            <a:picLocks noChangeAspect="1"/>
          </p:cNvPicPr>
          <p:nvPr/>
        </p:nvPicPr>
        <p:blipFill>
          <a:blip r:embed="rId2"/>
          <a:stretch>
            <a:fillRect/>
          </a:stretch>
        </p:blipFill>
        <p:spPr>
          <a:xfrm>
            <a:off x="198466" y="1116161"/>
            <a:ext cx="3712352" cy="5741839"/>
          </a:xfrm>
          <a:prstGeom prst="rect">
            <a:avLst/>
          </a:prstGeom>
        </p:spPr>
      </p:pic>
      <p:pic>
        <p:nvPicPr>
          <p:cNvPr id="7" name="Picture 6">
            <a:extLst>
              <a:ext uri="{FF2B5EF4-FFF2-40B4-BE49-F238E27FC236}">
                <a16:creationId xmlns:a16="http://schemas.microsoft.com/office/drawing/2014/main" id="{66D0D4C5-E9F7-4072-8774-DADBE4C99DD4}"/>
              </a:ext>
            </a:extLst>
          </p:cNvPr>
          <p:cNvPicPr>
            <a:picLocks noChangeAspect="1"/>
          </p:cNvPicPr>
          <p:nvPr/>
        </p:nvPicPr>
        <p:blipFill>
          <a:blip r:embed="rId3"/>
          <a:stretch>
            <a:fillRect/>
          </a:stretch>
        </p:blipFill>
        <p:spPr>
          <a:xfrm>
            <a:off x="5022280" y="1768008"/>
            <a:ext cx="3978235" cy="208653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5219" y="900332"/>
            <a:ext cx="4114800" cy="5957668"/>
          </a:xfrm>
        </p:spPr>
        <p:txBody>
          <a:bodyPr>
            <a:noAutofit/>
          </a:bodyPr>
          <a:lstStyle/>
          <a:p>
            <a:pPr algn="l"/>
            <a:r>
              <a:rPr lang="en-GB" sz="2000" b="1" dirty="0"/>
              <a:t>Key Insights</a:t>
            </a:r>
            <a:br>
              <a:rPr lang="en-GB" sz="2000" b="1" dirty="0"/>
            </a:br>
            <a:r>
              <a:rPr lang="en-GB" sz="2000" dirty="0"/>
              <a:t>E-wallet is the preferred payment method in Mandalay. </a:t>
            </a:r>
            <a:br>
              <a:rPr lang="en-GB" sz="2000" dirty="0"/>
            </a:br>
            <a:r>
              <a:rPr lang="en-GB" sz="2000" dirty="0"/>
              <a:t>Cash dominates transactions in Naypyitaw. </a:t>
            </a:r>
            <a:br>
              <a:rPr lang="en-GB" sz="2000" dirty="0"/>
            </a:br>
            <a:r>
              <a:rPr lang="en-GB" sz="2000" dirty="0"/>
              <a:t>E-wallet is also most popular in Yangon. </a:t>
            </a:r>
            <a:br>
              <a:rPr lang="en-GB" sz="2000" dirty="0"/>
            </a:br>
            <a:r>
              <a:rPr lang="en-GB" sz="2000" dirty="0"/>
              <a:t>Digital payments are widely adopted. </a:t>
            </a:r>
            <a:br>
              <a:rPr lang="en-GB" sz="2000" dirty="0"/>
            </a:br>
            <a:r>
              <a:rPr lang="en-GB" sz="2000" b="1" dirty="0"/>
              <a:t>Recommendations</a:t>
            </a:r>
            <a:br>
              <a:rPr lang="en-GB" sz="2000" b="1" dirty="0"/>
            </a:br>
            <a:r>
              <a:rPr lang="en-GB" sz="2000" dirty="0"/>
              <a:t>Expand digital payment promotions. </a:t>
            </a:r>
            <a:br>
              <a:rPr lang="en-GB" sz="2000" dirty="0"/>
            </a:br>
            <a:r>
              <a:rPr lang="en-GB" sz="2000" dirty="0"/>
              <a:t>Offer cashback incentives for E-wallet users. </a:t>
            </a:r>
            <a:br>
              <a:rPr lang="en-GB" sz="2000" dirty="0"/>
            </a:br>
            <a:r>
              <a:rPr lang="en-GB" sz="2000" dirty="0"/>
              <a:t>Encourage digital adoption in cash-dominant cities. </a:t>
            </a:r>
            <a:br>
              <a:rPr lang="en-GB" sz="2000" dirty="0"/>
            </a:br>
            <a:r>
              <a:rPr lang="en-GB" sz="2000" dirty="0"/>
              <a:t>Partner with payment providers for exclusive offers.</a:t>
            </a:r>
            <a:br>
              <a:rPr lang="en-GB" sz="2000" dirty="0"/>
            </a:br>
            <a:endParaRPr sz="2000" dirty="0"/>
          </a:p>
        </p:txBody>
      </p:sp>
      <p:sp>
        <p:nvSpPr>
          <p:cNvPr id="4" name="Title 1"/>
          <p:cNvSpPr>
            <a:spLocks noGrp="1"/>
          </p:cNvSpPr>
          <p:nvPr>
            <p:ph type="title"/>
          </p:nvPr>
        </p:nvSpPr>
        <p:spPr>
          <a:xfrm>
            <a:off x="457200" y="73855"/>
            <a:ext cx="8229600" cy="724168"/>
          </a:xfrm>
        </p:spPr>
        <p:txBody>
          <a:bodyPr>
            <a:normAutofit fontScale="90000"/>
          </a:bodyPr>
          <a:lstStyle/>
          <a:p>
            <a:r>
              <a:rPr lang="en-IN" dirty="0"/>
              <a:t>Task 5 Visualization</a:t>
            </a:r>
            <a:endParaRPr dirty="0"/>
          </a:p>
        </p:txBody>
      </p:sp>
      <p:pic>
        <p:nvPicPr>
          <p:cNvPr id="5" name="Picture 4">
            <a:extLst>
              <a:ext uri="{FF2B5EF4-FFF2-40B4-BE49-F238E27FC236}">
                <a16:creationId xmlns:a16="http://schemas.microsoft.com/office/drawing/2014/main" id="{08646EC0-6233-4429-98A0-45ADDEC4C71D}"/>
              </a:ext>
            </a:extLst>
          </p:cNvPr>
          <p:cNvPicPr>
            <a:picLocks noChangeAspect="1"/>
          </p:cNvPicPr>
          <p:nvPr/>
        </p:nvPicPr>
        <p:blipFill>
          <a:blip r:embed="rId2"/>
          <a:stretch>
            <a:fillRect/>
          </a:stretch>
        </p:blipFill>
        <p:spPr>
          <a:xfrm>
            <a:off x="0" y="1023106"/>
            <a:ext cx="4580357" cy="38021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935184"/>
          </a:xfrm>
        </p:spPr>
        <p:txBody>
          <a:bodyPr>
            <a:normAutofit fontScale="90000"/>
          </a:bodyPr>
          <a:lstStyle/>
          <a:p>
            <a:r>
              <a:rPr lang="en-GB" dirty="0"/>
              <a:t>Task 6 – Monthly Sales Distribution by Gender</a:t>
            </a:r>
            <a:endParaRPr dirty="0"/>
          </a:p>
        </p:txBody>
      </p:sp>
      <p:pic>
        <p:nvPicPr>
          <p:cNvPr id="5" name="Picture 4">
            <a:extLst>
              <a:ext uri="{FF2B5EF4-FFF2-40B4-BE49-F238E27FC236}">
                <a16:creationId xmlns:a16="http://schemas.microsoft.com/office/drawing/2014/main" id="{833155C2-B5A6-4AC8-A2E7-45A75381A3CB}"/>
              </a:ext>
            </a:extLst>
          </p:cNvPr>
          <p:cNvPicPr>
            <a:picLocks noChangeAspect="1"/>
          </p:cNvPicPr>
          <p:nvPr/>
        </p:nvPicPr>
        <p:blipFill>
          <a:blip r:embed="rId2"/>
          <a:stretch>
            <a:fillRect/>
          </a:stretch>
        </p:blipFill>
        <p:spPr>
          <a:xfrm>
            <a:off x="265922" y="1417637"/>
            <a:ext cx="4336279" cy="5292651"/>
          </a:xfrm>
          <a:prstGeom prst="rect">
            <a:avLst/>
          </a:prstGeom>
        </p:spPr>
      </p:pic>
      <p:pic>
        <p:nvPicPr>
          <p:cNvPr id="7" name="Picture 6">
            <a:extLst>
              <a:ext uri="{FF2B5EF4-FFF2-40B4-BE49-F238E27FC236}">
                <a16:creationId xmlns:a16="http://schemas.microsoft.com/office/drawing/2014/main" id="{6567C70A-C783-4189-9B29-DB92E135CCDB}"/>
              </a:ext>
            </a:extLst>
          </p:cNvPr>
          <p:cNvPicPr>
            <a:picLocks noChangeAspect="1"/>
          </p:cNvPicPr>
          <p:nvPr/>
        </p:nvPicPr>
        <p:blipFill>
          <a:blip r:embed="rId3"/>
          <a:stretch>
            <a:fillRect/>
          </a:stretch>
        </p:blipFill>
        <p:spPr>
          <a:xfrm>
            <a:off x="4793479" y="1646490"/>
            <a:ext cx="4084599" cy="309432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1396" y="868999"/>
            <a:ext cx="3437945" cy="5763917"/>
          </a:xfrm>
        </p:spPr>
        <p:txBody>
          <a:bodyPr>
            <a:noAutofit/>
          </a:bodyPr>
          <a:lstStyle/>
          <a:p>
            <a:pPr algn="l"/>
            <a:r>
              <a:rPr lang="en-GB" sz="2000" b="1" dirty="0"/>
              <a:t>Key Insights</a:t>
            </a:r>
            <a:br>
              <a:rPr lang="en-GB" sz="2000" b="1" dirty="0"/>
            </a:br>
            <a:r>
              <a:rPr lang="en-GB" sz="2000" dirty="0"/>
              <a:t>Female customers contributed more sales in January and February. </a:t>
            </a:r>
            <a:br>
              <a:rPr lang="en-GB" sz="2000" dirty="0"/>
            </a:br>
            <a:r>
              <a:rPr lang="en-GB" sz="2000" dirty="0"/>
              <a:t>Male customers contributed more sales in March. </a:t>
            </a:r>
            <a:br>
              <a:rPr lang="en-GB" sz="2000" dirty="0"/>
            </a:br>
            <a:r>
              <a:rPr lang="en-GB" sz="2000" dirty="0"/>
              <a:t>Gender contributions remain relatively balanced. </a:t>
            </a:r>
            <a:br>
              <a:rPr lang="en-GB" sz="2000" dirty="0"/>
            </a:br>
            <a:r>
              <a:rPr lang="en-GB" sz="2000" dirty="0"/>
              <a:t>Purchasing </a:t>
            </a:r>
            <a:r>
              <a:rPr lang="en-GB" sz="2000" dirty="0" err="1"/>
              <a:t>behavior</a:t>
            </a:r>
            <a:r>
              <a:rPr lang="en-GB" sz="2000" dirty="0"/>
              <a:t> varies across months. </a:t>
            </a:r>
            <a:br>
              <a:rPr lang="en-GB" sz="2000" dirty="0"/>
            </a:br>
            <a:r>
              <a:rPr lang="en-GB" sz="2000" b="1" dirty="0"/>
              <a:t>Recommendations</a:t>
            </a:r>
            <a:br>
              <a:rPr lang="en-GB" sz="2000" b="1" dirty="0"/>
            </a:br>
            <a:r>
              <a:rPr lang="en-GB" sz="2000" dirty="0"/>
              <a:t>Launch gender-targeted marketing campaigns. </a:t>
            </a:r>
            <a:br>
              <a:rPr lang="en-GB" sz="2000" dirty="0"/>
            </a:br>
            <a:r>
              <a:rPr lang="en-GB" sz="2000" dirty="0" err="1"/>
              <a:t>Analyze</a:t>
            </a:r>
            <a:r>
              <a:rPr lang="en-GB" sz="2000" dirty="0"/>
              <a:t> product preferences by gender. </a:t>
            </a:r>
            <a:br>
              <a:rPr lang="en-GB" sz="2000" dirty="0"/>
            </a:br>
            <a:r>
              <a:rPr lang="en-GB" sz="2000" dirty="0"/>
              <a:t>Develop personalized offers. </a:t>
            </a:r>
            <a:br>
              <a:rPr lang="en-GB" sz="2000" dirty="0"/>
            </a:br>
            <a:r>
              <a:rPr lang="en-GB" sz="2000" dirty="0"/>
              <a:t>Track gender-based trends quarterly.</a:t>
            </a:r>
            <a:br>
              <a:rPr lang="en-GB" sz="1800" dirty="0"/>
            </a:br>
            <a:endParaRPr sz="1800" dirty="0"/>
          </a:p>
        </p:txBody>
      </p:sp>
      <p:sp>
        <p:nvSpPr>
          <p:cNvPr id="4" name="Title 1"/>
          <p:cNvSpPr>
            <a:spLocks noGrp="1"/>
          </p:cNvSpPr>
          <p:nvPr>
            <p:ph type="title"/>
          </p:nvPr>
        </p:nvSpPr>
        <p:spPr>
          <a:xfrm>
            <a:off x="344658" y="102469"/>
            <a:ext cx="8229600" cy="513152"/>
          </a:xfrm>
        </p:spPr>
        <p:txBody>
          <a:bodyPr>
            <a:normAutofit fontScale="90000"/>
          </a:bodyPr>
          <a:lstStyle/>
          <a:p>
            <a:r>
              <a:rPr lang="en-IN" dirty="0"/>
              <a:t>Task 6 Visualization</a:t>
            </a:r>
            <a:endParaRPr dirty="0"/>
          </a:p>
        </p:txBody>
      </p:sp>
      <p:pic>
        <p:nvPicPr>
          <p:cNvPr id="5" name="Picture 4">
            <a:extLst>
              <a:ext uri="{FF2B5EF4-FFF2-40B4-BE49-F238E27FC236}">
                <a16:creationId xmlns:a16="http://schemas.microsoft.com/office/drawing/2014/main" id="{CAFE0902-BCB1-4A3E-A4FB-F30505705817}"/>
              </a:ext>
            </a:extLst>
          </p:cNvPr>
          <p:cNvPicPr>
            <a:picLocks noChangeAspect="1"/>
          </p:cNvPicPr>
          <p:nvPr/>
        </p:nvPicPr>
        <p:blipFill>
          <a:blip r:embed="rId2"/>
          <a:stretch>
            <a:fillRect/>
          </a:stretch>
        </p:blipFill>
        <p:spPr>
          <a:xfrm>
            <a:off x="0" y="868999"/>
            <a:ext cx="5016739" cy="28870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16523" y="190232"/>
            <a:ext cx="8229600" cy="1143000"/>
          </a:xfrm>
        </p:spPr>
        <p:txBody>
          <a:bodyPr>
            <a:normAutofit fontScale="90000"/>
          </a:bodyPr>
          <a:lstStyle/>
          <a:p>
            <a:r>
              <a:rPr lang="en-GB" dirty="0"/>
              <a:t>Task 7 – Product Preference by Customer Type</a:t>
            </a:r>
            <a:endParaRPr dirty="0"/>
          </a:p>
        </p:txBody>
      </p:sp>
      <p:pic>
        <p:nvPicPr>
          <p:cNvPr id="5" name="Picture 4">
            <a:extLst>
              <a:ext uri="{FF2B5EF4-FFF2-40B4-BE49-F238E27FC236}">
                <a16:creationId xmlns:a16="http://schemas.microsoft.com/office/drawing/2014/main" id="{149AF2F7-A338-4098-8B4A-09CD9C5D9714}"/>
              </a:ext>
            </a:extLst>
          </p:cNvPr>
          <p:cNvPicPr>
            <a:picLocks noChangeAspect="1"/>
          </p:cNvPicPr>
          <p:nvPr/>
        </p:nvPicPr>
        <p:blipFill>
          <a:blip r:embed="rId2"/>
          <a:stretch>
            <a:fillRect/>
          </a:stretch>
        </p:blipFill>
        <p:spPr>
          <a:xfrm>
            <a:off x="156546" y="1371918"/>
            <a:ext cx="3965288" cy="5486082"/>
          </a:xfrm>
          <a:prstGeom prst="rect">
            <a:avLst/>
          </a:prstGeom>
        </p:spPr>
      </p:pic>
      <p:pic>
        <p:nvPicPr>
          <p:cNvPr id="7" name="Picture 6">
            <a:extLst>
              <a:ext uri="{FF2B5EF4-FFF2-40B4-BE49-F238E27FC236}">
                <a16:creationId xmlns:a16="http://schemas.microsoft.com/office/drawing/2014/main" id="{76C5E84E-8BE6-4F8F-8FA4-77B521932250}"/>
              </a:ext>
            </a:extLst>
          </p:cNvPr>
          <p:cNvPicPr>
            <a:picLocks noChangeAspect="1"/>
          </p:cNvPicPr>
          <p:nvPr/>
        </p:nvPicPr>
        <p:blipFill>
          <a:blip r:embed="rId3"/>
          <a:stretch>
            <a:fillRect/>
          </a:stretch>
        </p:blipFill>
        <p:spPr>
          <a:xfrm>
            <a:off x="4572000" y="1563087"/>
            <a:ext cx="4135902" cy="209451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388" y="3720905"/>
            <a:ext cx="8229600" cy="3137095"/>
          </a:xfrm>
        </p:spPr>
        <p:txBody>
          <a:bodyPr>
            <a:noAutofit/>
          </a:bodyPr>
          <a:lstStyle/>
          <a:p>
            <a:pPr algn="l"/>
            <a:r>
              <a:rPr lang="en-GB" sz="2000" b="1" dirty="0"/>
              <a:t>Key Insights</a:t>
            </a:r>
            <a:br>
              <a:rPr lang="en-GB" sz="2000" b="1" dirty="0"/>
            </a:br>
            <a:r>
              <a:rPr lang="en-GB" sz="2000" dirty="0"/>
              <a:t>Members prefer </a:t>
            </a:r>
            <a:r>
              <a:rPr lang="en-GB" sz="2000" b="1" dirty="0"/>
              <a:t>Food &amp; Beverages</a:t>
            </a:r>
            <a:r>
              <a:rPr lang="en-GB" sz="2000" dirty="0"/>
              <a:t>. </a:t>
            </a:r>
            <a:br>
              <a:rPr lang="en-GB" sz="2000" dirty="0"/>
            </a:br>
            <a:r>
              <a:rPr lang="en-GB" sz="2000" dirty="0"/>
              <a:t>Normal customers prefer </a:t>
            </a:r>
            <a:r>
              <a:rPr lang="en-GB" sz="2000" b="1" dirty="0"/>
              <a:t>Electronic Accessories</a:t>
            </a:r>
            <a:r>
              <a:rPr lang="en-GB" sz="2000" dirty="0"/>
              <a:t>. </a:t>
            </a:r>
            <a:br>
              <a:rPr lang="en-GB" sz="2000" dirty="0"/>
            </a:br>
            <a:r>
              <a:rPr lang="en-GB" sz="2000" dirty="0"/>
              <a:t>Customer type influences purchasing </a:t>
            </a:r>
            <a:r>
              <a:rPr lang="en-GB" sz="2000" dirty="0" err="1"/>
              <a:t>behavior</a:t>
            </a:r>
            <a:r>
              <a:rPr lang="en-GB" sz="2000" dirty="0"/>
              <a:t>. </a:t>
            </a:r>
            <a:br>
              <a:rPr lang="en-GB" sz="2000" dirty="0"/>
            </a:br>
            <a:r>
              <a:rPr lang="en-GB" sz="2000" dirty="0"/>
              <a:t>Revenue patterns differ across segments. </a:t>
            </a:r>
            <a:br>
              <a:rPr lang="en-GB" sz="2000" dirty="0"/>
            </a:br>
            <a:r>
              <a:rPr lang="en-GB" sz="2000" b="1" dirty="0"/>
              <a:t>Recommendations</a:t>
            </a:r>
            <a:br>
              <a:rPr lang="en-GB" sz="2000" b="1" dirty="0"/>
            </a:br>
            <a:r>
              <a:rPr lang="en-GB" sz="2000" dirty="0"/>
              <a:t>Offer member-exclusive promotions on Food &amp; Beverages. </a:t>
            </a:r>
            <a:br>
              <a:rPr lang="en-GB" sz="2000" dirty="0"/>
            </a:br>
            <a:r>
              <a:rPr lang="en-GB" sz="2000" dirty="0"/>
              <a:t>Promote Electronics to attract Normal customers. </a:t>
            </a:r>
            <a:br>
              <a:rPr lang="en-GB" sz="2000" dirty="0"/>
            </a:br>
            <a:r>
              <a:rPr lang="en-GB" sz="2000" dirty="0"/>
              <a:t>Customize campaigns by customer type. </a:t>
            </a:r>
            <a:br>
              <a:rPr lang="en-GB" sz="2000" dirty="0"/>
            </a:br>
            <a:r>
              <a:rPr lang="en-GB" sz="2000" dirty="0"/>
              <a:t>Improve cross-selling opportunities.</a:t>
            </a:r>
            <a:br>
              <a:rPr lang="en-GB" sz="1800" dirty="0"/>
            </a:br>
            <a:endParaRPr sz="1800" dirty="0"/>
          </a:p>
        </p:txBody>
      </p:sp>
      <p:sp>
        <p:nvSpPr>
          <p:cNvPr id="4" name="Title 1"/>
          <p:cNvSpPr>
            <a:spLocks noGrp="1"/>
          </p:cNvSpPr>
          <p:nvPr>
            <p:ph type="title"/>
          </p:nvPr>
        </p:nvSpPr>
        <p:spPr>
          <a:xfrm>
            <a:off x="288388" y="0"/>
            <a:ext cx="8229600" cy="717452"/>
          </a:xfrm>
        </p:spPr>
        <p:txBody>
          <a:bodyPr>
            <a:normAutofit fontScale="90000"/>
          </a:bodyPr>
          <a:lstStyle/>
          <a:p>
            <a:r>
              <a:rPr lang="en-IN" dirty="0"/>
              <a:t>Task 7 Visualization</a:t>
            </a:r>
            <a:endParaRPr dirty="0"/>
          </a:p>
        </p:txBody>
      </p:sp>
      <p:pic>
        <p:nvPicPr>
          <p:cNvPr id="5" name="Picture 4">
            <a:extLst>
              <a:ext uri="{FF2B5EF4-FFF2-40B4-BE49-F238E27FC236}">
                <a16:creationId xmlns:a16="http://schemas.microsoft.com/office/drawing/2014/main" id="{46057B9F-45C0-4AA4-B9E4-502D530EA903}"/>
              </a:ext>
            </a:extLst>
          </p:cNvPr>
          <p:cNvPicPr>
            <a:picLocks noChangeAspect="1"/>
          </p:cNvPicPr>
          <p:nvPr/>
        </p:nvPicPr>
        <p:blipFill>
          <a:blip r:embed="rId2"/>
          <a:stretch>
            <a:fillRect/>
          </a:stretch>
        </p:blipFill>
        <p:spPr>
          <a:xfrm>
            <a:off x="101329" y="843409"/>
            <a:ext cx="7045059" cy="275153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46502"/>
            <a:ext cx="8229600" cy="1143000"/>
          </a:xfrm>
        </p:spPr>
        <p:txBody>
          <a:bodyPr/>
          <a:lstStyle/>
          <a:p>
            <a:r>
              <a:rPr lang="en-GB" dirty="0"/>
              <a:t>Task 8 – Repeat Customer Analysis</a:t>
            </a:r>
            <a:endParaRPr dirty="0"/>
          </a:p>
        </p:txBody>
      </p:sp>
      <p:pic>
        <p:nvPicPr>
          <p:cNvPr id="5" name="Picture 4">
            <a:extLst>
              <a:ext uri="{FF2B5EF4-FFF2-40B4-BE49-F238E27FC236}">
                <a16:creationId xmlns:a16="http://schemas.microsoft.com/office/drawing/2014/main" id="{FBA50BBD-8B8C-4C12-B611-2F1DF56334C6}"/>
              </a:ext>
            </a:extLst>
          </p:cNvPr>
          <p:cNvPicPr>
            <a:picLocks noChangeAspect="1"/>
          </p:cNvPicPr>
          <p:nvPr/>
        </p:nvPicPr>
        <p:blipFill>
          <a:blip r:embed="rId2"/>
          <a:stretch>
            <a:fillRect/>
          </a:stretch>
        </p:blipFill>
        <p:spPr>
          <a:xfrm>
            <a:off x="0" y="1389502"/>
            <a:ext cx="4576551" cy="5221996"/>
          </a:xfrm>
          <a:prstGeom prst="rect">
            <a:avLst/>
          </a:prstGeom>
        </p:spPr>
      </p:pic>
      <p:pic>
        <p:nvPicPr>
          <p:cNvPr id="7" name="Picture 6">
            <a:extLst>
              <a:ext uri="{FF2B5EF4-FFF2-40B4-BE49-F238E27FC236}">
                <a16:creationId xmlns:a16="http://schemas.microsoft.com/office/drawing/2014/main" id="{DEB5C166-AF7D-4A9A-A026-F1B19654F1D7}"/>
              </a:ext>
            </a:extLst>
          </p:cNvPr>
          <p:cNvPicPr>
            <a:picLocks noChangeAspect="1"/>
          </p:cNvPicPr>
          <p:nvPr/>
        </p:nvPicPr>
        <p:blipFill>
          <a:blip r:embed="rId3"/>
          <a:stretch>
            <a:fillRect/>
          </a:stretch>
        </p:blipFill>
        <p:spPr>
          <a:xfrm>
            <a:off x="4571999" y="1389502"/>
            <a:ext cx="4374833" cy="52219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012" y="2124222"/>
            <a:ext cx="8229600" cy="4374734"/>
          </a:xfrm>
        </p:spPr>
        <p:txBody>
          <a:bodyPr>
            <a:noAutofit/>
          </a:bodyPr>
          <a:lstStyle/>
          <a:p>
            <a:pPr algn="l"/>
            <a:r>
              <a:rPr lang="en-GB" sz="2400" b="1" dirty="0"/>
              <a:t>Key Insights</a:t>
            </a:r>
            <a:br>
              <a:rPr lang="en-GB" sz="2400" b="1" dirty="0"/>
            </a:br>
            <a:r>
              <a:rPr lang="en-GB" sz="2400" dirty="0"/>
              <a:t>Several customers make purchases within short intervals. </a:t>
            </a:r>
            <a:br>
              <a:rPr lang="en-GB" sz="2400" dirty="0"/>
            </a:br>
            <a:r>
              <a:rPr lang="en-GB" sz="2400" dirty="0"/>
              <a:t>Repeat purchasing </a:t>
            </a:r>
            <a:r>
              <a:rPr lang="en-GB" sz="2400" dirty="0" err="1"/>
              <a:t>behavior</a:t>
            </a:r>
            <a:r>
              <a:rPr lang="en-GB" sz="2400" dirty="0"/>
              <a:t> is evident. </a:t>
            </a:r>
            <a:br>
              <a:rPr lang="en-GB" sz="2400" dirty="0"/>
            </a:br>
            <a:r>
              <a:rPr lang="en-GB" sz="2400" dirty="0"/>
              <a:t>Customer retention contributes significantly to sales. </a:t>
            </a:r>
            <a:br>
              <a:rPr lang="en-GB" sz="2400" dirty="0"/>
            </a:br>
            <a:r>
              <a:rPr lang="en-GB" sz="2400" dirty="0"/>
              <a:t>Frequent shoppers provide recurring revenue. </a:t>
            </a:r>
            <a:br>
              <a:rPr lang="en-GB" sz="2400" dirty="0"/>
            </a:br>
            <a:r>
              <a:rPr lang="en-GB" sz="2400" b="1" dirty="0"/>
              <a:t>Recommendations</a:t>
            </a:r>
            <a:br>
              <a:rPr lang="en-GB" sz="2400" b="1" dirty="0"/>
            </a:br>
            <a:r>
              <a:rPr lang="en-GB" sz="2400" dirty="0"/>
              <a:t>Introduce loyalty reward programs. </a:t>
            </a:r>
            <a:br>
              <a:rPr lang="en-GB" sz="2400" dirty="0"/>
            </a:br>
            <a:r>
              <a:rPr lang="en-GB" sz="2400" dirty="0"/>
              <a:t>Send personalized offers to repeat customers. </a:t>
            </a:r>
            <a:br>
              <a:rPr lang="en-GB" sz="2400" dirty="0"/>
            </a:br>
            <a:r>
              <a:rPr lang="en-GB" sz="2400" dirty="0"/>
              <a:t>Develop retention-focused marketing campaigns. </a:t>
            </a:r>
            <a:br>
              <a:rPr lang="en-GB" sz="2400" dirty="0"/>
            </a:br>
            <a:r>
              <a:rPr lang="en-GB" sz="2400" dirty="0"/>
              <a:t>Track customer lifetime value.</a:t>
            </a:r>
            <a:br>
              <a:rPr lang="en-GB" sz="2400" dirty="0"/>
            </a:br>
            <a:endParaRPr sz="2400" dirty="0"/>
          </a:p>
        </p:txBody>
      </p:sp>
      <p:sp>
        <p:nvSpPr>
          <p:cNvPr id="4" name="Title 1"/>
          <p:cNvSpPr>
            <a:spLocks noGrp="1"/>
          </p:cNvSpPr>
          <p:nvPr>
            <p:ph type="title"/>
          </p:nvPr>
        </p:nvSpPr>
        <p:spPr>
          <a:xfrm>
            <a:off x="161779" y="359044"/>
            <a:ext cx="8229600" cy="1143000"/>
          </a:xfrm>
        </p:spPr>
        <p:txBody>
          <a:bodyPr/>
          <a:lstStyle/>
          <a:p>
            <a:r>
              <a:rPr dirty="0"/>
              <a:t>Task 8 Result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44659" y="176164"/>
            <a:ext cx="8229600" cy="1143000"/>
          </a:xfrm>
        </p:spPr>
        <p:txBody>
          <a:bodyPr>
            <a:normAutofit fontScale="90000"/>
          </a:bodyPr>
          <a:lstStyle/>
          <a:p>
            <a:r>
              <a:rPr lang="en-GB" dirty="0"/>
              <a:t>Task 9 – Top 5 Customers by Revenue</a:t>
            </a:r>
            <a:endParaRPr dirty="0"/>
          </a:p>
        </p:txBody>
      </p:sp>
      <p:pic>
        <p:nvPicPr>
          <p:cNvPr id="5" name="Picture 4">
            <a:extLst>
              <a:ext uri="{FF2B5EF4-FFF2-40B4-BE49-F238E27FC236}">
                <a16:creationId xmlns:a16="http://schemas.microsoft.com/office/drawing/2014/main" id="{B27742FD-3327-494C-94E5-0DBA1918A0AD}"/>
              </a:ext>
            </a:extLst>
          </p:cNvPr>
          <p:cNvPicPr>
            <a:picLocks noChangeAspect="1"/>
          </p:cNvPicPr>
          <p:nvPr/>
        </p:nvPicPr>
        <p:blipFill>
          <a:blip r:embed="rId2"/>
          <a:stretch>
            <a:fillRect/>
          </a:stretch>
        </p:blipFill>
        <p:spPr>
          <a:xfrm>
            <a:off x="0" y="1319164"/>
            <a:ext cx="4367050" cy="5362672"/>
          </a:xfrm>
          <a:prstGeom prst="rect">
            <a:avLst/>
          </a:prstGeom>
        </p:spPr>
      </p:pic>
      <p:pic>
        <p:nvPicPr>
          <p:cNvPr id="7" name="Picture 6">
            <a:extLst>
              <a:ext uri="{FF2B5EF4-FFF2-40B4-BE49-F238E27FC236}">
                <a16:creationId xmlns:a16="http://schemas.microsoft.com/office/drawing/2014/main" id="{25551873-448C-40F5-A20D-59C949D2A2ED}"/>
              </a:ext>
            </a:extLst>
          </p:cNvPr>
          <p:cNvPicPr>
            <a:picLocks noChangeAspect="1"/>
          </p:cNvPicPr>
          <p:nvPr/>
        </p:nvPicPr>
        <p:blipFill>
          <a:blip r:embed="rId3"/>
          <a:stretch>
            <a:fillRect/>
          </a:stretch>
        </p:blipFill>
        <p:spPr>
          <a:xfrm>
            <a:off x="4459459" y="1638960"/>
            <a:ext cx="4589373" cy="1790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049" y="3530992"/>
            <a:ext cx="8229600" cy="3327008"/>
          </a:xfrm>
        </p:spPr>
        <p:txBody>
          <a:bodyPr>
            <a:noAutofit/>
          </a:bodyPr>
          <a:lstStyle/>
          <a:p>
            <a:pPr algn="l"/>
            <a:r>
              <a:rPr lang="en-GB" sz="2000" b="1" dirty="0"/>
              <a:t>Key Insights</a:t>
            </a:r>
            <a:br>
              <a:rPr lang="en-GB" sz="2000" b="1" dirty="0"/>
            </a:br>
            <a:r>
              <a:rPr lang="en-GB" sz="2000" dirty="0"/>
              <a:t>Customer 8 generated the highest revenue. </a:t>
            </a:r>
            <a:br>
              <a:rPr lang="en-GB" sz="2000" dirty="0"/>
            </a:br>
            <a:r>
              <a:rPr lang="en-GB" sz="2000" dirty="0"/>
              <a:t>The top 5 customers contribute a substantial share of sales. </a:t>
            </a:r>
            <a:br>
              <a:rPr lang="en-GB" sz="2000" dirty="0"/>
            </a:br>
            <a:r>
              <a:rPr lang="en-GB" sz="2000" dirty="0"/>
              <a:t>Revenue among top customers is relatively close. </a:t>
            </a:r>
            <a:br>
              <a:rPr lang="en-GB" sz="2000" dirty="0"/>
            </a:br>
            <a:r>
              <a:rPr lang="en-GB" sz="2000" dirty="0"/>
              <a:t>High-value customers are critical to business performance. </a:t>
            </a:r>
            <a:br>
              <a:rPr lang="en-GB" sz="2000" dirty="0"/>
            </a:br>
            <a:r>
              <a:rPr lang="en-GB" sz="2000" b="1" dirty="0"/>
              <a:t>Recommendations</a:t>
            </a:r>
            <a:br>
              <a:rPr lang="en-GB" sz="2000" b="1" dirty="0"/>
            </a:br>
            <a:r>
              <a:rPr lang="en-GB" sz="2000" dirty="0"/>
              <a:t>Create VIP customer programs. </a:t>
            </a:r>
            <a:br>
              <a:rPr lang="en-GB" sz="2000" dirty="0"/>
            </a:br>
            <a:r>
              <a:rPr lang="en-GB" sz="2000" dirty="0"/>
              <a:t>Offer exclusive rewards to top customers. </a:t>
            </a:r>
            <a:br>
              <a:rPr lang="en-GB" sz="2000" dirty="0"/>
            </a:br>
            <a:r>
              <a:rPr lang="en-GB" sz="2000" dirty="0"/>
              <a:t>Increase engagement through personalized marketing. </a:t>
            </a:r>
            <a:br>
              <a:rPr lang="en-GB" sz="2000" dirty="0"/>
            </a:br>
            <a:r>
              <a:rPr lang="en-GB" sz="2000" dirty="0"/>
              <a:t>Monitor churn risk among top customers.</a:t>
            </a:r>
            <a:br>
              <a:rPr lang="en-GB" sz="1800" dirty="0"/>
            </a:br>
            <a:endParaRPr sz="1800" dirty="0"/>
          </a:p>
        </p:txBody>
      </p:sp>
      <p:sp>
        <p:nvSpPr>
          <p:cNvPr id="4" name="Title 1"/>
          <p:cNvSpPr>
            <a:spLocks noGrp="1"/>
          </p:cNvSpPr>
          <p:nvPr>
            <p:ph type="title"/>
          </p:nvPr>
        </p:nvSpPr>
        <p:spPr>
          <a:xfrm>
            <a:off x="457200" y="6381"/>
            <a:ext cx="8229600" cy="752304"/>
          </a:xfrm>
        </p:spPr>
        <p:txBody>
          <a:bodyPr>
            <a:normAutofit fontScale="90000"/>
          </a:bodyPr>
          <a:lstStyle/>
          <a:p>
            <a:r>
              <a:rPr lang="en-IN" dirty="0"/>
              <a:t>Task 9 Visualization</a:t>
            </a:r>
            <a:endParaRPr dirty="0"/>
          </a:p>
        </p:txBody>
      </p:sp>
      <p:pic>
        <p:nvPicPr>
          <p:cNvPr id="5" name="Picture 4">
            <a:extLst>
              <a:ext uri="{FF2B5EF4-FFF2-40B4-BE49-F238E27FC236}">
                <a16:creationId xmlns:a16="http://schemas.microsoft.com/office/drawing/2014/main" id="{DEAF6085-F8DA-4721-B673-23EDB0491577}"/>
              </a:ext>
            </a:extLst>
          </p:cNvPr>
          <p:cNvPicPr>
            <a:picLocks noChangeAspect="1"/>
          </p:cNvPicPr>
          <p:nvPr/>
        </p:nvPicPr>
        <p:blipFill>
          <a:blip r:embed="rId2"/>
          <a:stretch>
            <a:fillRect/>
          </a:stretch>
        </p:blipFill>
        <p:spPr>
          <a:xfrm>
            <a:off x="457200" y="758686"/>
            <a:ext cx="6928338" cy="277230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76165"/>
            <a:ext cx="8229600" cy="1143000"/>
          </a:xfrm>
        </p:spPr>
        <p:txBody>
          <a:bodyPr>
            <a:normAutofit fontScale="90000"/>
          </a:bodyPr>
          <a:lstStyle/>
          <a:p>
            <a:r>
              <a:rPr lang="en-GB" dirty="0"/>
              <a:t>Task 10 – Sales Trends by Day of Week</a:t>
            </a:r>
            <a:endParaRPr dirty="0"/>
          </a:p>
        </p:txBody>
      </p:sp>
      <p:pic>
        <p:nvPicPr>
          <p:cNvPr id="5" name="Picture 4">
            <a:extLst>
              <a:ext uri="{FF2B5EF4-FFF2-40B4-BE49-F238E27FC236}">
                <a16:creationId xmlns:a16="http://schemas.microsoft.com/office/drawing/2014/main" id="{173FF221-683B-4B93-9C75-DF89046A15DD}"/>
              </a:ext>
            </a:extLst>
          </p:cNvPr>
          <p:cNvPicPr>
            <a:picLocks noChangeAspect="1"/>
          </p:cNvPicPr>
          <p:nvPr/>
        </p:nvPicPr>
        <p:blipFill>
          <a:blip r:embed="rId2"/>
          <a:stretch>
            <a:fillRect/>
          </a:stretch>
        </p:blipFill>
        <p:spPr>
          <a:xfrm>
            <a:off x="232117" y="1572382"/>
            <a:ext cx="4197863" cy="2422841"/>
          </a:xfrm>
          <a:prstGeom prst="rect">
            <a:avLst/>
          </a:prstGeom>
        </p:spPr>
      </p:pic>
      <p:pic>
        <p:nvPicPr>
          <p:cNvPr id="7" name="Picture 6">
            <a:extLst>
              <a:ext uri="{FF2B5EF4-FFF2-40B4-BE49-F238E27FC236}">
                <a16:creationId xmlns:a16="http://schemas.microsoft.com/office/drawing/2014/main" id="{B351318F-10D3-47D9-99E9-761780C67AF7}"/>
              </a:ext>
            </a:extLst>
          </p:cNvPr>
          <p:cNvPicPr>
            <a:picLocks noChangeAspect="1"/>
          </p:cNvPicPr>
          <p:nvPr/>
        </p:nvPicPr>
        <p:blipFill>
          <a:blip r:embed="rId3"/>
          <a:stretch>
            <a:fillRect/>
          </a:stretch>
        </p:blipFill>
        <p:spPr>
          <a:xfrm>
            <a:off x="4825639" y="1572381"/>
            <a:ext cx="4087516" cy="242284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26" y="3830264"/>
            <a:ext cx="8229600" cy="2982334"/>
          </a:xfrm>
        </p:spPr>
        <p:txBody>
          <a:bodyPr>
            <a:noAutofit/>
          </a:bodyPr>
          <a:lstStyle/>
          <a:p>
            <a:pPr algn="l"/>
            <a:r>
              <a:rPr lang="en-GB" sz="2000" b="1" dirty="0"/>
              <a:t>Key Insights</a:t>
            </a:r>
            <a:br>
              <a:rPr lang="en-GB" sz="2000" b="1" dirty="0"/>
            </a:br>
            <a:r>
              <a:rPr lang="en-GB" sz="2000" dirty="0"/>
              <a:t>Saturday generated the highest sales revenue. </a:t>
            </a:r>
            <a:br>
              <a:rPr lang="en-GB" sz="2000" dirty="0"/>
            </a:br>
            <a:r>
              <a:rPr lang="en-GB" sz="2000" dirty="0"/>
              <a:t>Tuesday recorded the second-highest sales. </a:t>
            </a:r>
            <a:br>
              <a:rPr lang="en-GB" sz="2000" dirty="0"/>
            </a:br>
            <a:r>
              <a:rPr lang="en-GB" sz="2000" dirty="0"/>
              <a:t>Monday generated the lowest sales revenue. </a:t>
            </a:r>
            <a:br>
              <a:rPr lang="en-GB" sz="2000" dirty="0"/>
            </a:br>
            <a:r>
              <a:rPr lang="en-GB" sz="2000" dirty="0"/>
              <a:t>Weekend sales outperform weekday sales. </a:t>
            </a:r>
            <a:br>
              <a:rPr lang="en-GB" sz="2000" dirty="0"/>
            </a:br>
            <a:r>
              <a:rPr lang="en-GB" sz="2000" b="1" dirty="0"/>
              <a:t>Recommendations</a:t>
            </a:r>
            <a:br>
              <a:rPr lang="en-GB" sz="2000" b="1" dirty="0"/>
            </a:br>
            <a:r>
              <a:rPr lang="en-GB" sz="2000" dirty="0"/>
              <a:t>Increase staffing during weekends. </a:t>
            </a:r>
            <a:br>
              <a:rPr lang="en-GB" sz="2000" dirty="0"/>
            </a:br>
            <a:r>
              <a:rPr lang="en-GB" sz="2000" dirty="0"/>
              <a:t>Ensure adequate inventory before Saturdays. </a:t>
            </a:r>
            <a:br>
              <a:rPr lang="en-GB" sz="2000" dirty="0"/>
            </a:br>
            <a:r>
              <a:rPr lang="en-GB" sz="2000" dirty="0"/>
              <a:t>Introduce promotional campaigns on Mondays. </a:t>
            </a:r>
            <a:br>
              <a:rPr lang="en-GB" sz="2000" dirty="0"/>
            </a:br>
            <a:r>
              <a:rPr lang="en-GB" sz="2000" dirty="0"/>
              <a:t>Schedule marketing events on high-traffic days.</a:t>
            </a:r>
            <a:br>
              <a:rPr lang="en-GB" sz="1800" dirty="0"/>
            </a:br>
            <a:endParaRPr sz="1800" dirty="0"/>
          </a:p>
        </p:txBody>
      </p:sp>
      <p:sp>
        <p:nvSpPr>
          <p:cNvPr id="4" name="Title 1"/>
          <p:cNvSpPr>
            <a:spLocks noGrp="1"/>
          </p:cNvSpPr>
          <p:nvPr>
            <p:ph type="title"/>
          </p:nvPr>
        </p:nvSpPr>
        <p:spPr>
          <a:xfrm>
            <a:off x="358725" y="66822"/>
            <a:ext cx="8229600" cy="653829"/>
          </a:xfrm>
        </p:spPr>
        <p:txBody>
          <a:bodyPr>
            <a:normAutofit fontScale="90000"/>
          </a:bodyPr>
          <a:lstStyle/>
          <a:p>
            <a:r>
              <a:rPr lang="en-IN" dirty="0"/>
              <a:t>Task 10 Visualization</a:t>
            </a:r>
            <a:endParaRPr dirty="0"/>
          </a:p>
        </p:txBody>
      </p:sp>
      <p:pic>
        <p:nvPicPr>
          <p:cNvPr id="5" name="Picture 4">
            <a:extLst>
              <a:ext uri="{FF2B5EF4-FFF2-40B4-BE49-F238E27FC236}">
                <a16:creationId xmlns:a16="http://schemas.microsoft.com/office/drawing/2014/main" id="{212934CD-6E7E-4753-812A-C9B280F4791D}"/>
              </a:ext>
            </a:extLst>
          </p:cNvPr>
          <p:cNvPicPr>
            <a:picLocks noChangeAspect="1"/>
          </p:cNvPicPr>
          <p:nvPr/>
        </p:nvPicPr>
        <p:blipFill>
          <a:blip r:embed="rId2"/>
          <a:stretch>
            <a:fillRect/>
          </a:stretch>
        </p:blipFill>
        <p:spPr>
          <a:xfrm>
            <a:off x="358725" y="720651"/>
            <a:ext cx="7519183" cy="286661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8E03F-32C1-4A8C-8BE5-C9EB1E7F77F0}"/>
              </a:ext>
            </a:extLst>
          </p:cNvPr>
          <p:cNvSpPr>
            <a:spLocks noGrp="1"/>
          </p:cNvSpPr>
          <p:nvPr>
            <p:ph type="title"/>
          </p:nvPr>
        </p:nvSpPr>
        <p:spPr>
          <a:xfrm>
            <a:off x="457200" y="274638"/>
            <a:ext cx="8229600" cy="752304"/>
          </a:xfrm>
        </p:spPr>
        <p:txBody>
          <a:bodyPr>
            <a:normAutofit fontScale="90000"/>
          </a:bodyPr>
          <a:lstStyle/>
          <a:p>
            <a:r>
              <a:rPr lang="en-IN" dirty="0"/>
              <a:t>Key Business Insights</a:t>
            </a:r>
          </a:p>
        </p:txBody>
      </p:sp>
      <p:sp>
        <p:nvSpPr>
          <p:cNvPr id="3" name="Content Placeholder 2">
            <a:extLst>
              <a:ext uri="{FF2B5EF4-FFF2-40B4-BE49-F238E27FC236}">
                <a16:creationId xmlns:a16="http://schemas.microsoft.com/office/drawing/2014/main" id="{4C793965-04C9-4E6D-9081-B6E243499831}"/>
              </a:ext>
            </a:extLst>
          </p:cNvPr>
          <p:cNvSpPr>
            <a:spLocks noGrp="1"/>
          </p:cNvSpPr>
          <p:nvPr>
            <p:ph sz="half" idx="1"/>
          </p:nvPr>
        </p:nvSpPr>
        <p:spPr>
          <a:xfrm>
            <a:off x="126609" y="1600200"/>
            <a:ext cx="4369191" cy="4983162"/>
          </a:xfrm>
          <a:ln>
            <a:solidFill>
              <a:schemeClr val="tx1"/>
            </a:solidFill>
          </a:ln>
        </p:spPr>
        <p:txBody>
          <a:bodyPr>
            <a:normAutofit fontScale="32500" lnSpcReduction="20000"/>
          </a:bodyPr>
          <a:lstStyle/>
          <a:p>
            <a:pPr marL="0" indent="0">
              <a:buNone/>
            </a:pPr>
            <a:r>
              <a:rPr lang="en-GB" sz="3800" dirty="0"/>
              <a:t>📈 </a:t>
            </a:r>
            <a:r>
              <a:rPr lang="en-GB" sz="5500" b="1" dirty="0"/>
              <a:t>Branch Performance</a:t>
            </a:r>
          </a:p>
          <a:p>
            <a:pPr>
              <a:buFont typeface="Arial" panose="020B0604020202020204" pitchFamily="34" charset="0"/>
              <a:buChar char="•"/>
            </a:pPr>
            <a:r>
              <a:rPr lang="en-GB" sz="5500" dirty="0"/>
              <a:t>Branch A achieved the highest average sales growth rate (</a:t>
            </a:r>
            <a:r>
              <a:rPr lang="en-GB" sz="5500" b="1" dirty="0"/>
              <a:t>1.66%</a:t>
            </a:r>
            <a:r>
              <a:rPr lang="en-GB" sz="5500" dirty="0"/>
              <a:t>). </a:t>
            </a:r>
          </a:p>
          <a:p>
            <a:pPr>
              <a:buFont typeface="Arial" panose="020B0604020202020204" pitchFamily="34" charset="0"/>
              <a:buChar char="•"/>
            </a:pPr>
            <a:r>
              <a:rPr lang="en-GB" sz="5500" dirty="0"/>
              <a:t>Branches B and C experienced negative growth, indicating potential performance challenges. </a:t>
            </a:r>
          </a:p>
          <a:p>
            <a:pPr marL="0" indent="0">
              <a:buNone/>
            </a:pPr>
            <a:r>
              <a:rPr lang="en-GB" sz="5500" dirty="0"/>
              <a:t>💰 </a:t>
            </a:r>
            <a:r>
              <a:rPr lang="en-GB" sz="5500" b="1" dirty="0"/>
              <a:t>Product Profitability</a:t>
            </a:r>
            <a:endParaRPr lang="en-GB" sz="5500" dirty="0"/>
          </a:p>
          <a:p>
            <a:pPr>
              <a:buFont typeface="Arial" panose="020B0604020202020204" pitchFamily="34" charset="0"/>
              <a:buChar char="•"/>
            </a:pPr>
            <a:r>
              <a:rPr lang="en-GB" sz="5500" dirty="0"/>
              <a:t>Food &amp; Beverages emerged as the most profitable product category. </a:t>
            </a:r>
          </a:p>
          <a:p>
            <a:pPr>
              <a:buFont typeface="Arial" panose="020B0604020202020204" pitchFamily="34" charset="0"/>
              <a:buChar char="•"/>
            </a:pPr>
            <a:r>
              <a:rPr lang="en-GB" sz="5500" dirty="0"/>
              <a:t>Product profitability varies significantly across branches. </a:t>
            </a:r>
          </a:p>
          <a:p>
            <a:pPr marL="0" indent="0">
              <a:buNone/>
            </a:pPr>
            <a:r>
              <a:rPr lang="en-GB" sz="5500" dirty="0"/>
              <a:t>👥 </a:t>
            </a:r>
            <a:r>
              <a:rPr lang="en-GB" sz="5500" b="1" dirty="0"/>
              <a:t>Customer </a:t>
            </a:r>
            <a:r>
              <a:rPr lang="en-GB" sz="5500" b="1" dirty="0" err="1"/>
              <a:t>Behavior</a:t>
            </a:r>
            <a:endParaRPr lang="en-GB" sz="5500" dirty="0"/>
          </a:p>
          <a:p>
            <a:pPr>
              <a:buFont typeface="Arial" panose="020B0604020202020204" pitchFamily="34" charset="0"/>
              <a:buChar char="•"/>
            </a:pPr>
            <a:r>
              <a:rPr lang="en-GB" sz="5500" dirty="0"/>
              <a:t>Medium-spending customers represent the largest customer segment (</a:t>
            </a:r>
            <a:r>
              <a:rPr lang="en-GB" sz="5500" b="1" dirty="0"/>
              <a:t>60%</a:t>
            </a:r>
            <a:r>
              <a:rPr lang="en-GB" sz="5500" dirty="0"/>
              <a:t>). </a:t>
            </a:r>
          </a:p>
          <a:p>
            <a:pPr>
              <a:buFont typeface="Arial" panose="020B0604020202020204" pitchFamily="34" charset="0"/>
              <a:buChar char="•"/>
            </a:pPr>
            <a:r>
              <a:rPr lang="en-GB" sz="5500" dirty="0"/>
              <a:t>A small group of high-value customers contributes a significant share of total revenue. </a:t>
            </a:r>
          </a:p>
          <a:p>
            <a:endParaRPr lang="en-IN" dirty="0"/>
          </a:p>
        </p:txBody>
      </p:sp>
      <p:sp>
        <p:nvSpPr>
          <p:cNvPr id="4" name="Content Placeholder 3">
            <a:extLst>
              <a:ext uri="{FF2B5EF4-FFF2-40B4-BE49-F238E27FC236}">
                <a16:creationId xmlns:a16="http://schemas.microsoft.com/office/drawing/2014/main" id="{EF1003C1-DFC5-426D-9E7E-9F54F97B54E1}"/>
              </a:ext>
            </a:extLst>
          </p:cNvPr>
          <p:cNvSpPr>
            <a:spLocks noGrp="1"/>
          </p:cNvSpPr>
          <p:nvPr>
            <p:ph sz="half" idx="2"/>
          </p:nvPr>
        </p:nvSpPr>
        <p:spPr>
          <a:xfrm>
            <a:off x="4648200" y="1600200"/>
            <a:ext cx="4369190" cy="4983162"/>
          </a:xfrm>
          <a:ln>
            <a:solidFill>
              <a:schemeClr val="tx1"/>
            </a:solidFill>
          </a:ln>
        </p:spPr>
        <p:txBody>
          <a:bodyPr>
            <a:normAutofit fontScale="32500" lnSpcReduction="20000"/>
          </a:bodyPr>
          <a:lstStyle/>
          <a:p>
            <a:pPr marL="0" indent="0">
              <a:buNone/>
            </a:pPr>
            <a:r>
              <a:rPr lang="en-GB" sz="4000" dirty="0"/>
              <a:t>💳 </a:t>
            </a:r>
            <a:r>
              <a:rPr lang="en-GB" sz="6000" b="1" dirty="0"/>
              <a:t>Payment Preferences</a:t>
            </a:r>
            <a:endParaRPr lang="en-GB" sz="6000" dirty="0"/>
          </a:p>
          <a:p>
            <a:pPr>
              <a:buFont typeface="Arial" panose="020B0604020202020204" pitchFamily="34" charset="0"/>
              <a:buChar char="•"/>
            </a:pPr>
            <a:r>
              <a:rPr lang="en-GB" sz="6000" dirty="0"/>
              <a:t>E-wallet is the preferred payment method in Mandalay and Yangon. </a:t>
            </a:r>
          </a:p>
          <a:p>
            <a:pPr>
              <a:buFont typeface="Arial" panose="020B0604020202020204" pitchFamily="34" charset="0"/>
              <a:buChar char="•"/>
            </a:pPr>
            <a:r>
              <a:rPr lang="en-GB" sz="6000" dirty="0"/>
              <a:t>Digital payment adoption is increasing across cities. </a:t>
            </a:r>
          </a:p>
          <a:p>
            <a:pPr marL="0" indent="0">
              <a:buNone/>
            </a:pPr>
            <a:r>
              <a:rPr lang="en-GB" sz="6000" dirty="0"/>
              <a:t>📅 </a:t>
            </a:r>
            <a:r>
              <a:rPr lang="en-GB" sz="6000" b="1" dirty="0"/>
              <a:t>Sales Trends</a:t>
            </a:r>
            <a:endParaRPr lang="en-GB" sz="6000" dirty="0"/>
          </a:p>
          <a:p>
            <a:pPr>
              <a:buFont typeface="Arial" panose="020B0604020202020204" pitchFamily="34" charset="0"/>
              <a:buChar char="•"/>
            </a:pPr>
            <a:r>
              <a:rPr lang="en-GB" sz="6000" dirty="0"/>
              <a:t>Saturday generated the highest sales revenue. </a:t>
            </a:r>
          </a:p>
          <a:p>
            <a:pPr>
              <a:buFont typeface="Arial" panose="020B0604020202020204" pitchFamily="34" charset="0"/>
              <a:buChar char="•"/>
            </a:pPr>
            <a:r>
              <a:rPr lang="en-GB" sz="6000" dirty="0"/>
              <a:t>Monday recorded the lowest sales performance. </a:t>
            </a:r>
          </a:p>
          <a:p>
            <a:pPr marL="0" indent="0">
              <a:buNone/>
            </a:pPr>
            <a:r>
              <a:rPr lang="en-GB" sz="6000" dirty="0"/>
              <a:t>⭐ </a:t>
            </a:r>
            <a:r>
              <a:rPr lang="en-GB" sz="6000" b="1" dirty="0"/>
              <a:t>Customer Value</a:t>
            </a:r>
            <a:endParaRPr lang="en-GB" sz="6000" dirty="0"/>
          </a:p>
          <a:p>
            <a:pPr>
              <a:buFont typeface="Arial" panose="020B0604020202020204" pitchFamily="34" charset="0"/>
              <a:buChar char="•"/>
            </a:pPr>
            <a:r>
              <a:rPr lang="en-GB" sz="6000" dirty="0"/>
              <a:t>Customer 8 generated the highest revenue among all customers. </a:t>
            </a:r>
          </a:p>
          <a:p>
            <a:pPr>
              <a:buFont typeface="Arial" panose="020B0604020202020204" pitchFamily="34" charset="0"/>
              <a:buChar char="•"/>
            </a:pPr>
            <a:r>
              <a:rPr lang="en-GB" sz="6000" dirty="0"/>
              <a:t>Repeat purchase </a:t>
            </a:r>
            <a:r>
              <a:rPr lang="en-GB" sz="6000" dirty="0" err="1"/>
              <a:t>behavior</a:t>
            </a:r>
            <a:r>
              <a:rPr lang="en-GB" sz="6000" dirty="0"/>
              <a:t> indicates strong customer retention potential.</a:t>
            </a:r>
          </a:p>
          <a:p>
            <a:endParaRPr lang="en-IN" dirty="0"/>
          </a:p>
        </p:txBody>
      </p:sp>
    </p:spTree>
    <p:extLst>
      <p:ext uri="{BB962C8B-B14F-4D97-AF65-F5344CB8AC3E}">
        <p14:creationId xmlns:p14="http://schemas.microsoft.com/office/powerpoint/2010/main" val="4067062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E7B5A-4D3F-464D-B8B5-F7D4B2ACF123}"/>
              </a:ext>
            </a:extLst>
          </p:cNvPr>
          <p:cNvSpPr>
            <a:spLocks noGrp="1"/>
          </p:cNvSpPr>
          <p:nvPr>
            <p:ph type="title"/>
          </p:nvPr>
        </p:nvSpPr>
        <p:spPr/>
        <p:txBody>
          <a:bodyPr/>
          <a:lstStyle/>
          <a:p>
            <a:r>
              <a:rPr lang="en-IN" dirty="0"/>
              <a:t>Strategic Recommendations</a:t>
            </a:r>
          </a:p>
        </p:txBody>
      </p:sp>
      <p:sp>
        <p:nvSpPr>
          <p:cNvPr id="3" name="Content Placeholder 2">
            <a:extLst>
              <a:ext uri="{FF2B5EF4-FFF2-40B4-BE49-F238E27FC236}">
                <a16:creationId xmlns:a16="http://schemas.microsoft.com/office/drawing/2014/main" id="{14285524-C4B0-4B4A-82EB-CEDE60DCF73F}"/>
              </a:ext>
            </a:extLst>
          </p:cNvPr>
          <p:cNvSpPr>
            <a:spLocks noGrp="1"/>
          </p:cNvSpPr>
          <p:nvPr>
            <p:ph sz="half" idx="1"/>
          </p:nvPr>
        </p:nvSpPr>
        <p:spPr>
          <a:xfrm>
            <a:off x="168812" y="1624819"/>
            <a:ext cx="4326988" cy="5071403"/>
          </a:xfrm>
          <a:ln>
            <a:solidFill>
              <a:schemeClr val="tx1"/>
            </a:solidFill>
          </a:ln>
        </p:spPr>
        <p:txBody>
          <a:bodyPr>
            <a:normAutofit fontScale="70000" lnSpcReduction="20000"/>
          </a:bodyPr>
          <a:lstStyle/>
          <a:p>
            <a:pPr marL="0" indent="0">
              <a:buNone/>
            </a:pPr>
            <a:r>
              <a:rPr lang="en-GB" b="1" dirty="0"/>
              <a:t>Revenue Growth</a:t>
            </a:r>
          </a:p>
          <a:p>
            <a:pPr>
              <a:buFont typeface="Arial" panose="020B0604020202020204" pitchFamily="34" charset="0"/>
              <a:buChar char="•"/>
            </a:pPr>
            <a:r>
              <a:rPr lang="en-GB" dirty="0"/>
              <a:t>Replicate successful sales strategies from Branch A in other branches. </a:t>
            </a:r>
          </a:p>
          <a:p>
            <a:pPr>
              <a:buFont typeface="Arial" panose="020B0604020202020204" pitchFamily="34" charset="0"/>
              <a:buChar char="•"/>
            </a:pPr>
            <a:r>
              <a:rPr lang="en-GB" dirty="0"/>
              <a:t>Focus marketing efforts on underperforming branches. </a:t>
            </a:r>
          </a:p>
          <a:p>
            <a:pPr marL="0" indent="0">
              <a:buNone/>
            </a:pPr>
            <a:r>
              <a:rPr lang="en-GB" b="1" dirty="0"/>
              <a:t>Product Strategy</a:t>
            </a:r>
          </a:p>
          <a:p>
            <a:pPr>
              <a:buFont typeface="Arial" panose="020B0604020202020204" pitchFamily="34" charset="0"/>
              <a:buChar char="•"/>
            </a:pPr>
            <a:r>
              <a:rPr lang="en-GB" dirty="0"/>
              <a:t>Increase inventory allocation for high-profit product lines. </a:t>
            </a:r>
          </a:p>
          <a:p>
            <a:pPr>
              <a:buFont typeface="Arial" panose="020B0604020202020204" pitchFamily="34" charset="0"/>
              <a:buChar char="•"/>
            </a:pPr>
            <a:r>
              <a:rPr lang="en-GB" dirty="0"/>
              <a:t>Promote branch-specific best-selling categories. </a:t>
            </a:r>
          </a:p>
          <a:p>
            <a:pPr marL="0" indent="0">
              <a:buNone/>
            </a:pPr>
            <a:r>
              <a:rPr lang="en-GB" b="1" dirty="0"/>
              <a:t>Customer Retention</a:t>
            </a:r>
          </a:p>
          <a:p>
            <a:pPr>
              <a:buFont typeface="Arial" panose="020B0604020202020204" pitchFamily="34" charset="0"/>
              <a:buChar char="•"/>
            </a:pPr>
            <a:r>
              <a:rPr lang="en-GB" dirty="0"/>
              <a:t>Launch loyalty programs for repeat and high-value customers. </a:t>
            </a:r>
          </a:p>
          <a:p>
            <a:pPr>
              <a:buFont typeface="Arial" panose="020B0604020202020204" pitchFamily="34" charset="0"/>
              <a:buChar char="•"/>
            </a:pPr>
            <a:r>
              <a:rPr lang="en-GB" dirty="0"/>
              <a:t>Offer personalized promotions based on spending </a:t>
            </a:r>
            <a:r>
              <a:rPr lang="en-GB" dirty="0" err="1"/>
              <a:t>behavior</a:t>
            </a:r>
            <a:r>
              <a:rPr lang="en-GB" dirty="0"/>
              <a:t>. </a:t>
            </a:r>
          </a:p>
          <a:p>
            <a:endParaRPr lang="en-IN" dirty="0"/>
          </a:p>
        </p:txBody>
      </p:sp>
      <p:sp>
        <p:nvSpPr>
          <p:cNvPr id="4" name="Content Placeholder 3">
            <a:extLst>
              <a:ext uri="{FF2B5EF4-FFF2-40B4-BE49-F238E27FC236}">
                <a16:creationId xmlns:a16="http://schemas.microsoft.com/office/drawing/2014/main" id="{7E6BD0B9-18C9-42B8-BEC9-49A11728B16B}"/>
              </a:ext>
            </a:extLst>
          </p:cNvPr>
          <p:cNvSpPr>
            <a:spLocks noGrp="1"/>
          </p:cNvSpPr>
          <p:nvPr>
            <p:ph sz="half" idx="2"/>
          </p:nvPr>
        </p:nvSpPr>
        <p:spPr>
          <a:xfrm>
            <a:off x="4648199" y="1624819"/>
            <a:ext cx="4326987" cy="5071403"/>
          </a:xfrm>
          <a:ln>
            <a:solidFill>
              <a:schemeClr val="tx1"/>
            </a:solidFill>
          </a:ln>
        </p:spPr>
        <p:txBody>
          <a:bodyPr>
            <a:normAutofit fontScale="70000" lnSpcReduction="20000"/>
          </a:bodyPr>
          <a:lstStyle/>
          <a:p>
            <a:pPr marL="0" indent="0">
              <a:buNone/>
            </a:pPr>
            <a:r>
              <a:rPr lang="en-GB" b="1" dirty="0"/>
              <a:t>Payment Optimization</a:t>
            </a:r>
          </a:p>
          <a:p>
            <a:pPr>
              <a:buFont typeface="Arial" panose="020B0604020202020204" pitchFamily="34" charset="0"/>
              <a:buChar char="•"/>
            </a:pPr>
            <a:r>
              <a:rPr lang="en-GB" dirty="0"/>
              <a:t>Expand digital payment incentives and cashback programs. </a:t>
            </a:r>
          </a:p>
          <a:p>
            <a:pPr>
              <a:buFont typeface="Arial" panose="020B0604020202020204" pitchFamily="34" charset="0"/>
              <a:buChar char="•"/>
            </a:pPr>
            <a:r>
              <a:rPr lang="en-GB" dirty="0"/>
              <a:t>Encourage E-wallet adoption in cash-dominant locations. </a:t>
            </a:r>
          </a:p>
          <a:p>
            <a:pPr marL="0" indent="0">
              <a:buNone/>
            </a:pPr>
            <a:r>
              <a:rPr lang="en-GB" b="1" dirty="0"/>
              <a:t>Operational Improvements</a:t>
            </a:r>
          </a:p>
          <a:p>
            <a:pPr>
              <a:buFont typeface="Arial" panose="020B0604020202020204" pitchFamily="34" charset="0"/>
              <a:buChar char="•"/>
            </a:pPr>
            <a:r>
              <a:rPr lang="en-GB" dirty="0"/>
              <a:t>Increase staffing and inventory during weekends, especially Saturdays. </a:t>
            </a:r>
          </a:p>
          <a:p>
            <a:pPr>
              <a:buFont typeface="Arial" panose="020B0604020202020204" pitchFamily="34" charset="0"/>
              <a:buChar char="•"/>
            </a:pPr>
            <a:r>
              <a:rPr lang="en-GB" dirty="0"/>
              <a:t>Introduce promotional campaigns on low-performing weekdays such as Monday. </a:t>
            </a:r>
          </a:p>
          <a:p>
            <a:pPr marL="0" indent="0">
              <a:buNone/>
            </a:pPr>
            <a:r>
              <a:rPr lang="en-GB" b="1" dirty="0"/>
              <a:t>Risk Monitoring</a:t>
            </a:r>
          </a:p>
          <a:p>
            <a:pPr>
              <a:buFont typeface="Arial" panose="020B0604020202020204" pitchFamily="34" charset="0"/>
              <a:buChar char="•"/>
            </a:pPr>
            <a:r>
              <a:rPr lang="en-GB" dirty="0"/>
              <a:t>Implement automated anomaly detection for unusual transactions. </a:t>
            </a:r>
          </a:p>
          <a:p>
            <a:pPr>
              <a:buFont typeface="Arial" panose="020B0604020202020204" pitchFamily="34" charset="0"/>
              <a:buChar char="•"/>
            </a:pPr>
            <a:r>
              <a:rPr lang="en-GB" dirty="0"/>
              <a:t>Regularly monitor sales patterns to identify emerging trends.</a:t>
            </a:r>
          </a:p>
          <a:p>
            <a:endParaRPr lang="en-IN" dirty="0"/>
          </a:p>
        </p:txBody>
      </p:sp>
    </p:spTree>
    <p:extLst>
      <p:ext uri="{BB962C8B-B14F-4D97-AF65-F5344CB8AC3E}">
        <p14:creationId xmlns:p14="http://schemas.microsoft.com/office/powerpoint/2010/main" val="3024924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C3F01-A249-45B8-8024-180044CDEC09}"/>
              </a:ext>
            </a:extLst>
          </p:cNvPr>
          <p:cNvSpPr>
            <a:spLocks noGrp="1"/>
          </p:cNvSpPr>
          <p:nvPr>
            <p:ph type="title"/>
          </p:nvPr>
        </p:nvSpPr>
        <p:spPr/>
        <p:txBody>
          <a:bodyPr>
            <a:normAutofit/>
          </a:bodyPr>
          <a:lstStyle/>
          <a:p>
            <a:r>
              <a:rPr lang="en-IN" dirty="0"/>
              <a:t>SQL Concepts Applied</a:t>
            </a:r>
          </a:p>
        </p:txBody>
      </p:sp>
      <p:sp>
        <p:nvSpPr>
          <p:cNvPr id="3" name="Content Placeholder 2">
            <a:extLst>
              <a:ext uri="{FF2B5EF4-FFF2-40B4-BE49-F238E27FC236}">
                <a16:creationId xmlns:a16="http://schemas.microsoft.com/office/drawing/2014/main" id="{220E6445-814C-453A-A038-5D80A45ED40F}"/>
              </a:ext>
            </a:extLst>
          </p:cNvPr>
          <p:cNvSpPr>
            <a:spLocks noGrp="1"/>
          </p:cNvSpPr>
          <p:nvPr>
            <p:ph sz="half" idx="1"/>
          </p:nvPr>
        </p:nvSpPr>
        <p:spPr>
          <a:xfrm>
            <a:off x="457200" y="1600200"/>
            <a:ext cx="4038600" cy="5257800"/>
          </a:xfrm>
          <a:ln>
            <a:solidFill>
              <a:schemeClr val="tx1"/>
            </a:solidFill>
          </a:ln>
        </p:spPr>
        <p:txBody>
          <a:bodyPr>
            <a:normAutofit fontScale="62500" lnSpcReduction="20000"/>
          </a:bodyPr>
          <a:lstStyle/>
          <a:p>
            <a:pPr marL="0" indent="0">
              <a:buNone/>
            </a:pPr>
            <a:r>
              <a:rPr lang="en-IN" b="1" dirty="0"/>
              <a:t>Data Cleaning &amp; Validation</a:t>
            </a:r>
          </a:p>
          <a:p>
            <a:pPr>
              <a:buFont typeface="Arial" panose="020B0604020202020204" pitchFamily="34" charset="0"/>
              <a:buChar char="•"/>
            </a:pPr>
            <a:r>
              <a:rPr lang="en-IN" dirty="0"/>
              <a:t>Missing Value Checks </a:t>
            </a:r>
          </a:p>
          <a:p>
            <a:pPr>
              <a:buFont typeface="Arial" panose="020B0604020202020204" pitchFamily="34" charset="0"/>
              <a:buChar char="•"/>
            </a:pPr>
            <a:r>
              <a:rPr lang="en-IN" dirty="0"/>
              <a:t>Duplicate Record Validation </a:t>
            </a:r>
          </a:p>
          <a:p>
            <a:pPr>
              <a:buFont typeface="Arial" panose="020B0604020202020204" pitchFamily="34" charset="0"/>
              <a:buChar char="•"/>
            </a:pPr>
            <a:r>
              <a:rPr lang="en-IN" dirty="0"/>
              <a:t>Data Type Conversion </a:t>
            </a:r>
          </a:p>
          <a:p>
            <a:pPr>
              <a:buFont typeface="Arial" panose="020B0604020202020204" pitchFamily="34" charset="0"/>
              <a:buChar char="•"/>
            </a:pPr>
            <a:r>
              <a:rPr lang="en-IN" dirty="0"/>
              <a:t>Business Rule Validation </a:t>
            </a:r>
          </a:p>
          <a:p>
            <a:pPr>
              <a:buFont typeface="Arial" panose="020B0604020202020204" pitchFamily="34" charset="0"/>
              <a:buChar char="•"/>
            </a:pPr>
            <a:r>
              <a:rPr lang="en-IN" dirty="0"/>
              <a:t>Data Quality Assessment </a:t>
            </a:r>
          </a:p>
          <a:p>
            <a:pPr marL="0" indent="0">
              <a:buNone/>
            </a:pPr>
            <a:r>
              <a:rPr lang="en-IN" b="1" dirty="0"/>
              <a:t>Aggregate Functions</a:t>
            </a:r>
          </a:p>
          <a:p>
            <a:pPr>
              <a:buFont typeface="Arial" panose="020B0604020202020204" pitchFamily="34" charset="0"/>
              <a:buChar char="•"/>
            </a:pPr>
            <a:r>
              <a:rPr lang="en-IN" dirty="0"/>
              <a:t>SUM() </a:t>
            </a:r>
          </a:p>
          <a:p>
            <a:pPr>
              <a:buFont typeface="Arial" panose="020B0604020202020204" pitchFamily="34" charset="0"/>
              <a:buChar char="•"/>
            </a:pPr>
            <a:r>
              <a:rPr lang="en-IN" dirty="0"/>
              <a:t>AVG() </a:t>
            </a:r>
          </a:p>
          <a:p>
            <a:pPr>
              <a:buFont typeface="Arial" panose="020B0604020202020204" pitchFamily="34" charset="0"/>
              <a:buChar char="•"/>
            </a:pPr>
            <a:r>
              <a:rPr lang="en-IN" dirty="0"/>
              <a:t>COUNT() </a:t>
            </a:r>
          </a:p>
          <a:p>
            <a:pPr>
              <a:buFont typeface="Arial" panose="020B0604020202020204" pitchFamily="34" charset="0"/>
              <a:buChar char="•"/>
            </a:pPr>
            <a:r>
              <a:rPr lang="en-IN" dirty="0"/>
              <a:t>MAX() </a:t>
            </a:r>
          </a:p>
          <a:p>
            <a:pPr>
              <a:buFont typeface="Arial" panose="020B0604020202020204" pitchFamily="34" charset="0"/>
              <a:buChar char="•"/>
            </a:pPr>
            <a:r>
              <a:rPr lang="en-IN" dirty="0"/>
              <a:t>MIN() </a:t>
            </a:r>
          </a:p>
          <a:p>
            <a:pPr marL="0" indent="0">
              <a:buNone/>
            </a:pPr>
            <a:r>
              <a:rPr lang="en-IN" b="1" dirty="0"/>
              <a:t>Date &amp; Time Functions</a:t>
            </a:r>
          </a:p>
          <a:p>
            <a:pPr>
              <a:buFont typeface="Arial" panose="020B0604020202020204" pitchFamily="34" charset="0"/>
              <a:buChar char="•"/>
            </a:pPr>
            <a:r>
              <a:rPr lang="en-IN" dirty="0"/>
              <a:t>MONTH() </a:t>
            </a:r>
          </a:p>
          <a:p>
            <a:pPr>
              <a:buFont typeface="Arial" panose="020B0604020202020204" pitchFamily="34" charset="0"/>
              <a:buChar char="•"/>
            </a:pPr>
            <a:r>
              <a:rPr lang="en-IN" dirty="0"/>
              <a:t>MONTHNAME() </a:t>
            </a:r>
          </a:p>
          <a:p>
            <a:pPr>
              <a:buFont typeface="Arial" panose="020B0604020202020204" pitchFamily="34" charset="0"/>
              <a:buChar char="•"/>
            </a:pPr>
            <a:r>
              <a:rPr lang="en-IN" dirty="0"/>
              <a:t>DAYNAME() </a:t>
            </a:r>
          </a:p>
          <a:p>
            <a:pPr>
              <a:buFont typeface="Arial" panose="020B0604020202020204" pitchFamily="34" charset="0"/>
              <a:buChar char="•"/>
            </a:pPr>
            <a:r>
              <a:rPr lang="en-IN" dirty="0"/>
              <a:t>DATEDIFF() </a:t>
            </a:r>
          </a:p>
          <a:p>
            <a:pPr>
              <a:buFont typeface="Arial" panose="020B0604020202020204" pitchFamily="34" charset="0"/>
              <a:buChar char="•"/>
            </a:pPr>
            <a:r>
              <a:rPr lang="en-IN" dirty="0"/>
              <a:t>DATE_FORMAT()</a:t>
            </a:r>
          </a:p>
        </p:txBody>
      </p:sp>
      <p:sp>
        <p:nvSpPr>
          <p:cNvPr id="6" name="Content Placeholder 5">
            <a:extLst>
              <a:ext uri="{FF2B5EF4-FFF2-40B4-BE49-F238E27FC236}">
                <a16:creationId xmlns:a16="http://schemas.microsoft.com/office/drawing/2014/main" id="{31460DE5-C816-4D7A-85AA-20CC54A55C71}"/>
              </a:ext>
            </a:extLst>
          </p:cNvPr>
          <p:cNvSpPr>
            <a:spLocks noGrp="1"/>
          </p:cNvSpPr>
          <p:nvPr>
            <p:ph sz="half" idx="2"/>
          </p:nvPr>
        </p:nvSpPr>
        <p:spPr>
          <a:xfrm>
            <a:off x="4648200" y="1600200"/>
            <a:ext cx="4038600" cy="5257800"/>
          </a:xfrm>
          <a:ln>
            <a:solidFill>
              <a:schemeClr val="tx1"/>
            </a:solidFill>
          </a:ln>
        </p:spPr>
        <p:txBody>
          <a:bodyPr>
            <a:normAutofit fontScale="62500" lnSpcReduction="20000"/>
          </a:bodyPr>
          <a:lstStyle/>
          <a:p>
            <a:pPr marL="0" indent="0">
              <a:buNone/>
            </a:pPr>
            <a:r>
              <a:rPr lang="en-IN" b="1" dirty="0"/>
              <a:t>Window Functions</a:t>
            </a:r>
          </a:p>
          <a:p>
            <a:pPr>
              <a:buFont typeface="Arial" panose="020B0604020202020204" pitchFamily="34" charset="0"/>
              <a:buChar char="•"/>
            </a:pPr>
            <a:r>
              <a:rPr lang="en-IN" dirty="0"/>
              <a:t>LAG() </a:t>
            </a:r>
          </a:p>
          <a:p>
            <a:pPr>
              <a:buFont typeface="Arial" panose="020B0604020202020204" pitchFamily="34" charset="0"/>
              <a:buChar char="•"/>
            </a:pPr>
            <a:r>
              <a:rPr lang="en-IN" dirty="0"/>
              <a:t>RANK() </a:t>
            </a:r>
          </a:p>
          <a:p>
            <a:pPr>
              <a:buFont typeface="Arial" panose="020B0604020202020204" pitchFamily="34" charset="0"/>
              <a:buChar char="•"/>
            </a:pPr>
            <a:r>
              <a:rPr lang="en-IN" dirty="0"/>
              <a:t>DENSE_RANK() </a:t>
            </a:r>
          </a:p>
          <a:p>
            <a:pPr>
              <a:buFont typeface="Arial" panose="020B0604020202020204" pitchFamily="34" charset="0"/>
              <a:buChar char="•"/>
            </a:pPr>
            <a:r>
              <a:rPr lang="en-IN" dirty="0"/>
              <a:t>OVER() </a:t>
            </a:r>
          </a:p>
          <a:p>
            <a:pPr>
              <a:buFont typeface="Arial" panose="020B0604020202020204" pitchFamily="34" charset="0"/>
              <a:buChar char="•"/>
            </a:pPr>
            <a:r>
              <a:rPr lang="en-IN" dirty="0"/>
              <a:t>PARTITION BY </a:t>
            </a:r>
          </a:p>
          <a:p>
            <a:pPr marL="0" indent="0">
              <a:buNone/>
            </a:pPr>
            <a:r>
              <a:rPr lang="en-IN" b="1" dirty="0"/>
              <a:t>Common Table Expressions (CTEs)</a:t>
            </a:r>
          </a:p>
          <a:p>
            <a:pPr>
              <a:buFont typeface="Arial" panose="020B0604020202020204" pitchFamily="34" charset="0"/>
              <a:buChar char="•"/>
            </a:pPr>
            <a:r>
              <a:rPr lang="en-IN" dirty="0"/>
              <a:t>WITH Clause </a:t>
            </a:r>
          </a:p>
          <a:p>
            <a:pPr>
              <a:buFont typeface="Arial" panose="020B0604020202020204" pitchFamily="34" charset="0"/>
              <a:buChar char="•"/>
            </a:pPr>
            <a:r>
              <a:rPr lang="en-IN" dirty="0"/>
              <a:t>Multi-Level CTEs </a:t>
            </a:r>
          </a:p>
          <a:p>
            <a:pPr>
              <a:buFont typeface="Arial" panose="020B0604020202020204" pitchFamily="34" charset="0"/>
              <a:buChar char="•"/>
            </a:pPr>
            <a:r>
              <a:rPr lang="en-IN" dirty="0"/>
              <a:t>Query Simplification </a:t>
            </a:r>
          </a:p>
          <a:p>
            <a:pPr>
              <a:buFont typeface="Arial" panose="020B0604020202020204" pitchFamily="34" charset="0"/>
              <a:buChar char="•"/>
            </a:pPr>
            <a:r>
              <a:rPr lang="en-IN" dirty="0"/>
              <a:t>Modular Query Design </a:t>
            </a:r>
          </a:p>
          <a:p>
            <a:r>
              <a:rPr lang="en-IN" b="1" dirty="0"/>
              <a:t>Conditional Logic</a:t>
            </a:r>
          </a:p>
          <a:p>
            <a:pPr>
              <a:buFont typeface="Arial" panose="020B0604020202020204" pitchFamily="34" charset="0"/>
              <a:buChar char="•"/>
            </a:pPr>
            <a:r>
              <a:rPr lang="en-IN" dirty="0"/>
              <a:t>CASE WHEN Statements </a:t>
            </a:r>
          </a:p>
          <a:p>
            <a:pPr>
              <a:buFont typeface="Arial" panose="020B0604020202020204" pitchFamily="34" charset="0"/>
              <a:buChar char="•"/>
            </a:pPr>
            <a:r>
              <a:rPr lang="en-IN" dirty="0"/>
              <a:t>Customer Segmentation </a:t>
            </a:r>
          </a:p>
          <a:p>
            <a:pPr>
              <a:buFont typeface="Arial" panose="020B0604020202020204" pitchFamily="34" charset="0"/>
              <a:buChar char="•"/>
            </a:pPr>
            <a:r>
              <a:rPr lang="en-IN" dirty="0"/>
              <a:t>Business Rule Implementation </a:t>
            </a:r>
          </a:p>
          <a:p>
            <a:pPr marL="0" indent="0">
              <a:buNone/>
            </a:pPr>
            <a:endParaRPr lang="en-IN" dirty="0"/>
          </a:p>
        </p:txBody>
      </p:sp>
    </p:spTree>
    <p:extLst>
      <p:ext uri="{BB962C8B-B14F-4D97-AF65-F5344CB8AC3E}">
        <p14:creationId xmlns:p14="http://schemas.microsoft.com/office/powerpoint/2010/main" val="960865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2F2B6-2A37-4975-88CE-19DB574D0195}"/>
              </a:ext>
            </a:extLst>
          </p:cNvPr>
          <p:cNvSpPr>
            <a:spLocks noGrp="1"/>
          </p:cNvSpPr>
          <p:nvPr>
            <p:ph type="title"/>
          </p:nvPr>
        </p:nvSpPr>
        <p:spPr/>
        <p:txBody>
          <a:bodyPr>
            <a:normAutofit/>
          </a:bodyPr>
          <a:lstStyle/>
          <a:p>
            <a:r>
              <a:rPr lang="en-IN" dirty="0"/>
              <a:t>SQL Concepts Applied</a:t>
            </a:r>
          </a:p>
        </p:txBody>
      </p:sp>
      <p:sp>
        <p:nvSpPr>
          <p:cNvPr id="5" name="Content Placeholder 4">
            <a:extLst>
              <a:ext uri="{FF2B5EF4-FFF2-40B4-BE49-F238E27FC236}">
                <a16:creationId xmlns:a16="http://schemas.microsoft.com/office/drawing/2014/main" id="{76A0B0CC-8A31-4ECE-8205-C34729910E30}"/>
              </a:ext>
            </a:extLst>
          </p:cNvPr>
          <p:cNvSpPr>
            <a:spLocks noGrp="1"/>
          </p:cNvSpPr>
          <p:nvPr>
            <p:ph sz="half" idx="2"/>
          </p:nvPr>
        </p:nvSpPr>
        <p:spPr>
          <a:xfrm>
            <a:off x="4572000" y="1547446"/>
            <a:ext cx="4040188" cy="5035916"/>
          </a:xfrm>
          <a:ln>
            <a:solidFill>
              <a:schemeClr val="tx1"/>
            </a:solidFill>
          </a:ln>
        </p:spPr>
        <p:txBody>
          <a:bodyPr>
            <a:normAutofit fontScale="92500" lnSpcReduction="20000"/>
          </a:bodyPr>
          <a:lstStyle/>
          <a:p>
            <a:pPr marL="0" indent="0">
              <a:buNone/>
            </a:pPr>
            <a:r>
              <a:rPr lang="en-IN" b="1" dirty="0"/>
              <a:t>Business Analytics Techniques</a:t>
            </a:r>
          </a:p>
          <a:p>
            <a:pPr>
              <a:buFont typeface="Arial" panose="020B0604020202020204" pitchFamily="34" charset="0"/>
              <a:buChar char="•"/>
            </a:pPr>
            <a:r>
              <a:rPr lang="en-IN" dirty="0"/>
              <a:t>Sales Growth Analysis </a:t>
            </a:r>
          </a:p>
          <a:p>
            <a:pPr>
              <a:buFont typeface="Arial" panose="020B0604020202020204" pitchFamily="34" charset="0"/>
              <a:buChar char="•"/>
            </a:pPr>
            <a:r>
              <a:rPr lang="en-IN" dirty="0"/>
              <a:t>Customer Segmentation </a:t>
            </a:r>
          </a:p>
          <a:p>
            <a:pPr>
              <a:buFont typeface="Arial" panose="020B0604020202020204" pitchFamily="34" charset="0"/>
              <a:buChar char="•"/>
            </a:pPr>
            <a:r>
              <a:rPr lang="en-IN" dirty="0"/>
              <a:t>Payment Method Analysis </a:t>
            </a:r>
          </a:p>
          <a:p>
            <a:pPr>
              <a:buFont typeface="Arial" panose="020B0604020202020204" pitchFamily="34" charset="0"/>
              <a:buChar char="•"/>
            </a:pPr>
            <a:r>
              <a:rPr lang="en-IN" dirty="0"/>
              <a:t>Profitability Analysis </a:t>
            </a:r>
          </a:p>
          <a:p>
            <a:pPr>
              <a:buFont typeface="Arial" panose="020B0604020202020204" pitchFamily="34" charset="0"/>
              <a:buChar char="•"/>
            </a:pPr>
            <a:r>
              <a:rPr lang="en-IN" dirty="0"/>
              <a:t>Trend Analysis </a:t>
            </a:r>
          </a:p>
          <a:p>
            <a:pPr>
              <a:buFont typeface="Arial" panose="020B0604020202020204" pitchFamily="34" charset="0"/>
              <a:buChar char="•"/>
            </a:pPr>
            <a:r>
              <a:rPr lang="en-IN" dirty="0"/>
              <a:t>Repeat Customer Analysis</a:t>
            </a:r>
          </a:p>
          <a:p>
            <a:pPr marL="0" indent="0">
              <a:buNone/>
            </a:pPr>
            <a:r>
              <a:rPr lang="en-GB" b="1" dirty="0"/>
              <a:t>SQL Skills Demonstrated</a:t>
            </a:r>
          </a:p>
          <a:p>
            <a:pPr>
              <a:buFont typeface="Arial" panose="020B0604020202020204" pitchFamily="34" charset="0"/>
              <a:buChar char="•"/>
            </a:pPr>
            <a:r>
              <a:rPr lang="en-GB" dirty="0"/>
              <a:t>Data Cleaning </a:t>
            </a:r>
          </a:p>
          <a:p>
            <a:pPr>
              <a:buFont typeface="Arial" panose="020B0604020202020204" pitchFamily="34" charset="0"/>
              <a:buChar char="•"/>
            </a:pPr>
            <a:r>
              <a:rPr lang="en-GB" dirty="0"/>
              <a:t>Exploratory Data Analysis (EDA) </a:t>
            </a:r>
          </a:p>
          <a:p>
            <a:pPr>
              <a:buFont typeface="Arial" panose="020B0604020202020204" pitchFamily="34" charset="0"/>
              <a:buChar char="•"/>
            </a:pPr>
            <a:r>
              <a:rPr lang="en-GB" dirty="0"/>
              <a:t>Advanced SQL Querying </a:t>
            </a:r>
          </a:p>
          <a:p>
            <a:pPr>
              <a:buFont typeface="Arial" panose="020B0604020202020204" pitchFamily="34" charset="0"/>
              <a:buChar char="•"/>
            </a:pPr>
            <a:r>
              <a:rPr lang="en-GB" dirty="0"/>
              <a:t>Window Functions </a:t>
            </a:r>
          </a:p>
          <a:p>
            <a:pPr>
              <a:buFont typeface="Arial" panose="020B0604020202020204" pitchFamily="34" charset="0"/>
              <a:buChar char="•"/>
            </a:pPr>
            <a:r>
              <a:rPr lang="en-GB" dirty="0"/>
              <a:t>Business Intelligence </a:t>
            </a:r>
          </a:p>
          <a:p>
            <a:pPr>
              <a:buFont typeface="Arial" panose="020B0604020202020204" pitchFamily="34" charset="0"/>
              <a:buChar char="•"/>
            </a:pPr>
            <a:r>
              <a:rPr lang="en-GB" dirty="0"/>
              <a:t>Data-Driven Decision Making</a:t>
            </a:r>
          </a:p>
          <a:p>
            <a:pPr marL="0" indent="0">
              <a:buNone/>
            </a:pPr>
            <a:endParaRPr lang="en-IN" dirty="0"/>
          </a:p>
        </p:txBody>
      </p:sp>
      <p:sp>
        <p:nvSpPr>
          <p:cNvPr id="7" name="Content Placeholder 6">
            <a:extLst>
              <a:ext uri="{FF2B5EF4-FFF2-40B4-BE49-F238E27FC236}">
                <a16:creationId xmlns:a16="http://schemas.microsoft.com/office/drawing/2014/main" id="{190C3CEB-E6BB-44A1-B257-9B3717328C49}"/>
              </a:ext>
            </a:extLst>
          </p:cNvPr>
          <p:cNvSpPr>
            <a:spLocks noGrp="1"/>
          </p:cNvSpPr>
          <p:nvPr>
            <p:ph sz="quarter" idx="4"/>
          </p:nvPr>
        </p:nvSpPr>
        <p:spPr>
          <a:xfrm>
            <a:off x="284040" y="1547447"/>
            <a:ext cx="4041775" cy="5035916"/>
          </a:xfrm>
          <a:ln>
            <a:solidFill>
              <a:schemeClr val="tx1"/>
            </a:solidFill>
          </a:ln>
        </p:spPr>
        <p:txBody>
          <a:bodyPr>
            <a:normAutofit fontScale="92500" lnSpcReduction="20000"/>
          </a:bodyPr>
          <a:lstStyle/>
          <a:p>
            <a:pPr marL="0" indent="0">
              <a:buNone/>
            </a:pPr>
            <a:r>
              <a:rPr lang="en-IN" b="1" dirty="0"/>
              <a:t>Statistical Analysis</a:t>
            </a:r>
          </a:p>
          <a:p>
            <a:pPr>
              <a:buFont typeface="Arial" panose="020B0604020202020204" pitchFamily="34" charset="0"/>
              <a:buChar char="•"/>
            </a:pPr>
            <a:r>
              <a:rPr lang="en-IN" dirty="0"/>
              <a:t>AVG() </a:t>
            </a:r>
          </a:p>
          <a:p>
            <a:pPr>
              <a:buFont typeface="Arial" panose="020B0604020202020204" pitchFamily="34" charset="0"/>
              <a:buChar char="•"/>
            </a:pPr>
            <a:r>
              <a:rPr lang="en-IN" dirty="0"/>
              <a:t>STDDEV() </a:t>
            </a:r>
          </a:p>
          <a:p>
            <a:pPr>
              <a:buFont typeface="Arial" panose="020B0604020202020204" pitchFamily="34" charset="0"/>
              <a:buChar char="•"/>
            </a:pPr>
            <a:r>
              <a:rPr lang="en-IN" dirty="0"/>
              <a:t>Z-Score Calculation </a:t>
            </a:r>
          </a:p>
          <a:p>
            <a:pPr>
              <a:buFont typeface="Arial" panose="020B0604020202020204" pitchFamily="34" charset="0"/>
              <a:buChar char="•"/>
            </a:pPr>
            <a:r>
              <a:rPr lang="en-IN" dirty="0"/>
              <a:t>Anomaly Detection </a:t>
            </a:r>
          </a:p>
          <a:p>
            <a:pPr marL="0" indent="0">
              <a:buNone/>
            </a:pPr>
            <a:r>
              <a:rPr lang="en-IN" b="1" dirty="0"/>
              <a:t>Ranking &amp; Performance Analysis</a:t>
            </a:r>
          </a:p>
          <a:p>
            <a:pPr>
              <a:buFont typeface="Arial" panose="020B0604020202020204" pitchFamily="34" charset="0"/>
              <a:buChar char="•"/>
            </a:pPr>
            <a:r>
              <a:rPr lang="en-IN" dirty="0"/>
              <a:t>Top Customers Identification </a:t>
            </a:r>
          </a:p>
          <a:p>
            <a:pPr>
              <a:buFont typeface="Arial" panose="020B0604020202020204" pitchFamily="34" charset="0"/>
              <a:buChar char="•"/>
            </a:pPr>
            <a:r>
              <a:rPr lang="en-IN" dirty="0"/>
              <a:t>Product Line Ranking </a:t>
            </a:r>
          </a:p>
          <a:p>
            <a:pPr>
              <a:buFont typeface="Arial" panose="020B0604020202020204" pitchFamily="34" charset="0"/>
              <a:buChar char="•"/>
            </a:pPr>
            <a:r>
              <a:rPr lang="en-IN" dirty="0"/>
              <a:t>Branch Performance Ranking </a:t>
            </a:r>
          </a:p>
          <a:p>
            <a:pPr>
              <a:buFont typeface="Arial" panose="020B0604020202020204" pitchFamily="34" charset="0"/>
              <a:buChar char="•"/>
            </a:pPr>
            <a:r>
              <a:rPr lang="en-IN" dirty="0"/>
              <a:t>Revenue-Based Analysis </a:t>
            </a:r>
          </a:p>
          <a:p>
            <a:endParaRPr lang="en-IN" dirty="0"/>
          </a:p>
        </p:txBody>
      </p:sp>
    </p:spTree>
    <p:extLst>
      <p:ext uri="{BB962C8B-B14F-4D97-AF65-F5344CB8AC3E}">
        <p14:creationId xmlns:p14="http://schemas.microsoft.com/office/powerpoint/2010/main" val="3340437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6272-E6E0-4A01-983C-90F438F8F27D}"/>
              </a:ext>
            </a:extLst>
          </p:cNvPr>
          <p:cNvSpPr>
            <a:spLocks noGrp="1"/>
          </p:cNvSpPr>
          <p:nvPr>
            <p:ph type="title"/>
          </p:nvPr>
        </p:nvSpPr>
        <p:spPr>
          <a:xfrm>
            <a:off x="457200" y="91758"/>
            <a:ext cx="8229600" cy="752304"/>
          </a:xfrm>
        </p:spPr>
        <p:txBody>
          <a:bodyPr>
            <a:normAutofit fontScale="90000"/>
          </a:bodyPr>
          <a:lstStyle/>
          <a:p>
            <a:r>
              <a:rPr lang="en-IN" dirty="0"/>
              <a:t>Conclusion</a:t>
            </a:r>
          </a:p>
        </p:txBody>
      </p:sp>
      <p:sp>
        <p:nvSpPr>
          <p:cNvPr id="3" name="Content Placeholder 2">
            <a:extLst>
              <a:ext uri="{FF2B5EF4-FFF2-40B4-BE49-F238E27FC236}">
                <a16:creationId xmlns:a16="http://schemas.microsoft.com/office/drawing/2014/main" id="{A6F8D77C-8AE7-4B7A-BA24-BECBB480FFD7}"/>
              </a:ext>
            </a:extLst>
          </p:cNvPr>
          <p:cNvSpPr>
            <a:spLocks noGrp="1"/>
          </p:cNvSpPr>
          <p:nvPr>
            <p:ph idx="1"/>
          </p:nvPr>
        </p:nvSpPr>
        <p:spPr/>
        <p:txBody>
          <a:bodyPr>
            <a:normAutofit fontScale="70000" lnSpcReduction="20000"/>
          </a:bodyPr>
          <a:lstStyle/>
          <a:p>
            <a:pPr marL="0" indent="0">
              <a:buNone/>
            </a:pPr>
            <a:r>
              <a:rPr lang="en-GB" b="1" dirty="0"/>
              <a:t>Project Summary</a:t>
            </a:r>
          </a:p>
          <a:p>
            <a:r>
              <a:rPr lang="en-GB" dirty="0"/>
              <a:t>This project </a:t>
            </a:r>
            <a:r>
              <a:rPr lang="en-GB" dirty="0" err="1"/>
              <a:t>analyzed</a:t>
            </a:r>
            <a:r>
              <a:rPr lang="en-GB" dirty="0"/>
              <a:t> Walmart sales transaction data using MySQL to identify business trends, customer purchasing patterns, product profitability, and operational opportunities.</a:t>
            </a:r>
          </a:p>
          <a:p>
            <a:pPr marL="0" indent="0">
              <a:buNone/>
            </a:pPr>
            <a:r>
              <a:rPr lang="en-GB" b="1" dirty="0"/>
              <a:t>Key Achievements</a:t>
            </a:r>
          </a:p>
          <a:p>
            <a:pPr>
              <a:buFont typeface="Wingdings" panose="05000000000000000000" pitchFamily="2" charset="2"/>
              <a:buChar char="Ø"/>
            </a:pPr>
            <a:r>
              <a:rPr lang="en-GB" dirty="0"/>
              <a:t>Performed complete data cleaning and validation</a:t>
            </a:r>
          </a:p>
          <a:p>
            <a:pPr>
              <a:buFont typeface="Wingdings" panose="05000000000000000000" pitchFamily="2" charset="2"/>
              <a:buChar char="Ø"/>
            </a:pPr>
            <a:r>
              <a:rPr lang="en-GB" dirty="0"/>
              <a:t> Solved 10 business-driven analytical problems</a:t>
            </a:r>
          </a:p>
          <a:p>
            <a:pPr>
              <a:buFont typeface="Wingdings" panose="05000000000000000000" pitchFamily="2" charset="2"/>
              <a:buChar char="Ø"/>
            </a:pPr>
            <a:r>
              <a:rPr lang="en-GB" dirty="0"/>
              <a:t> Applied advanced SQL concepts including:</a:t>
            </a:r>
          </a:p>
          <a:p>
            <a:pPr>
              <a:buFont typeface="Arial" panose="020B0604020202020204" pitchFamily="34" charset="0"/>
              <a:buChar char="•"/>
            </a:pPr>
            <a:r>
              <a:rPr lang="en-GB" dirty="0"/>
              <a:t>CTEs </a:t>
            </a:r>
          </a:p>
          <a:p>
            <a:pPr>
              <a:buFont typeface="Arial" panose="020B0604020202020204" pitchFamily="34" charset="0"/>
              <a:buChar char="•"/>
            </a:pPr>
            <a:r>
              <a:rPr lang="en-GB" dirty="0"/>
              <a:t>Window Functions </a:t>
            </a:r>
          </a:p>
          <a:p>
            <a:pPr>
              <a:buFont typeface="Arial" panose="020B0604020202020204" pitchFamily="34" charset="0"/>
              <a:buChar char="•"/>
            </a:pPr>
            <a:r>
              <a:rPr lang="en-GB" dirty="0"/>
              <a:t>Ranking Functions </a:t>
            </a:r>
          </a:p>
          <a:p>
            <a:pPr>
              <a:buFont typeface="Arial" panose="020B0604020202020204" pitchFamily="34" charset="0"/>
              <a:buChar char="•"/>
            </a:pPr>
            <a:r>
              <a:rPr lang="en-GB" dirty="0"/>
              <a:t>Statistical Analysis</a:t>
            </a:r>
          </a:p>
          <a:p>
            <a:endParaRPr lang="en-IN" dirty="0"/>
          </a:p>
        </p:txBody>
      </p:sp>
    </p:spTree>
    <p:extLst>
      <p:ext uri="{BB962C8B-B14F-4D97-AF65-F5344CB8AC3E}">
        <p14:creationId xmlns:p14="http://schemas.microsoft.com/office/powerpoint/2010/main" val="1294893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41BEA-F080-4D7E-883D-FBF682887FAC}"/>
              </a:ext>
            </a:extLst>
          </p:cNvPr>
          <p:cNvSpPr>
            <a:spLocks noGrp="1"/>
          </p:cNvSpPr>
          <p:nvPr>
            <p:ph sz="half" idx="1"/>
          </p:nvPr>
        </p:nvSpPr>
        <p:spPr>
          <a:xfrm>
            <a:off x="457200" y="759656"/>
            <a:ext cx="4038600" cy="5366508"/>
          </a:xfrm>
          <a:ln>
            <a:solidFill>
              <a:schemeClr val="tx1"/>
            </a:solidFill>
          </a:ln>
        </p:spPr>
        <p:txBody>
          <a:bodyPr>
            <a:normAutofit fontScale="77500" lnSpcReduction="20000"/>
          </a:bodyPr>
          <a:lstStyle/>
          <a:p>
            <a:pPr marL="0" indent="0">
              <a:buNone/>
            </a:pPr>
            <a:r>
              <a:rPr lang="en-GB" dirty="0"/>
              <a:t> </a:t>
            </a:r>
            <a:r>
              <a:rPr lang="en-GB" b="1" dirty="0"/>
              <a:t>Identified</a:t>
            </a:r>
          </a:p>
          <a:p>
            <a:pPr>
              <a:buFont typeface="Arial" panose="020B0604020202020204" pitchFamily="34" charset="0"/>
              <a:buChar char="•"/>
            </a:pPr>
            <a:r>
              <a:rPr lang="en-GB" dirty="0"/>
              <a:t>Highest growth branch </a:t>
            </a:r>
          </a:p>
          <a:p>
            <a:pPr>
              <a:buFont typeface="Arial" panose="020B0604020202020204" pitchFamily="34" charset="0"/>
              <a:buChar char="•"/>
            </a:pPr>
            <a:r>
              <a:rPr lang="en-GB" dirty="0"/>
              <a:t>Most profitable product lines </a:t>
            </a:r>
          </a:p>
          <a:p>
            <a:pPr>
              <a:buFont typeface="Arial" panose="020B0604020202020204" pitchFamily="34" charset="0"/>
              <a:buChar char="•"/>
            </a:pPr>
            <a:r>
              <a:rPr lang="en-GB" dirty="0"/>
              <a:t>Customer spending segments </a:t>
            </a:r>
          </a:p>
          <a:p>
            <a:pPr>
              <a:buFont typeface="Arial" panose="020B0604020202020204" pitchFamily="34" charset="0"/>
              <a:buChar char="•"/>
            </a:pPr>
            <a:r>
              <a:rPr lang="en-GB" dirty="0"/>
              <a:t>Repeat customers </a:t>
            </a:r>
          </a:p>
          <a:p>
            <a:pPr>
              <a:buFont typeface="Arial" panose="020B0604020202020204" pitchFamily="34" charset="0"/>
              <a:buChar char="•"/>
            </a:pPr>
            <a:r>
              <a:rPr lang="en-GB" dirty="0"/>
              <a:t>Sales anomalies </a:t>
            </a:r>
          </a:p>
          <a:p>
            <a:pPr>
              <a:buFont typeface="Arial" panose="020B0604020202020204" pitchFamily="34" charset="0"/>
              <a:buChar char="•"/>
            </a:pPr>
            <a:r>
              <a:rPr lang="en-GB" dirty="0"/>
              <a:t>Peak sales days </a:t>
            </a:r>
          </a:p>
          <a:p>
            <a:pPr marL="0" indent="0">
              <a:buNone/>
            </a:pPr>
            <a:r>
              <a:rPr lang="en-GB" b="1" dirty="0"/>
              <a:t>Business Impact</a:t>
            </a:r>
          </a:p>
          <a:p>
            <a:r>
              <a:rPr lang="en-GB" dirty="0"/>
              <a:t>The insights generated can help Walmart improve:</a:t>
            </a:r>
          </a:p>
          <a:p>
            <a:pPr>
              <a:buFont typeface="Arial" panose="020B0604020202020204" pitchFamily="34" charset="0"/>
              <a:buChar char="•"/>
            </a:pPr>
            <a:r>
              <a:rPr lang="en-GB" dirty="0"/>
              <a:t>Revenue growth </a:t>
            </a:r>
          </a:p>
          <a:p>
            <a:pPr>
              <a:buFont typeface="Arial" panose="020B0604020202020204" pitchFamily="34" charset="0"/>
              <a:buChar char="•"/>
            </a:pPr>
            <a:r>
              <a:rPr lang="en-GB" dirty="0"/>
              <a:t>Customer retention </a:t>
            </a:r>
          </a:p>
          <a:p>
            <a:pPr>
              <a:buFont typeface="Arial" panose="020B0604020202020204" pitchFamily="34" charset="0"/>
              <a:buChar char="•"/>
            </a:pPr>
            <a:r>
              <a:rPr lang="en-GB" dirty="0"/>
              <a:t>Inventory planning </a:t>
            </a:r>
          </a:p>
          <a:p>
            <a:pPr>
              <a:buFont typeface="Arial" panose="020B0604020202020204" pitchFamily="34" charset="0"/>
              <a:buChar char="•"/>
            </a:pPr>
            <a:r>
              <a:rPr lang="en-GB" dirty="0"/>
              <a:t>Marketing effectiveness </a:t>
            </a:r>
          </a:p>
          <a:p>
            <a:pPr>
              <a:buFont typeface="Arial" panose="020B0604020202020204" pitchFamily="34" charset="0"/>
              <a:buChar char="•"/>
            </a:pPr>
            <a:r>
              <a:rPr lang="en-GB" dirty="0"/>
              <a:t>Operational efficiency</a:t>
            </a:r>
          </a:p>
          <a:p>
            <a:endParaRPr lang="en-IN" dirty="0"/>
          </a:p>
        </p:txBody>
      </p:sp>
      <p:sp>
        <p:nvSpPr>
          <p:cNvPr id="5" name="Content Placeholder 4">
            <a:extLst>
              <a:ext uri="{FF2B5EF4-FFF2-40B4-BE49-F238E27FC236}">
                <a16:creationId xmlns:a16="http://schemas.microsoft.com/office/drawing/2014/main" id="{008D215B-4AFD-4756-9079-50381CF6A36C}"/>
              </a:ext>
            </a:extLst>
          </p:cNvPr>
          <p:cNvSpPr>
            <a:spLocks noGrp="1"/>
          </p:cNvSpPr>
          <p:nvPr>
            <p:ph sz="half" idx="2"/>
          </p:nvPr>
        </p:nvSpPr>
        <p:spPr>
          <a:xfrm>
            <a:off x="4648200" y="759656"/>
            <a:ext cx="4038600" cy="5366508"/>
          </a:xfrm>
          <a:ln>
            <a:solidFill>
              <a:schemeClr val="tx1"/>
            </a:solidFill>
          </a:ln>
        </p:spPr>
        <p:txBody>
          <a:bodyPr>
            <a:normAutofit fontScale="77500" lnSpcReduction="20000"/>
          </a:bodyPr>
          <a:lstStyle/>
          <a:p>
            <a:pPr marL="0" indent="0">
              <a:buNone/>
            </a:pPr>
            <a:r>
              <a:rPr lang="en-GB" b="1" dirty="0"/>
              <a:t>Skills Demonstrated</a:t>
            </a:r>
          </a:p>
          <a:p>
            <a:pPr>
              <a:buFont typeface="Arial" panose="020B0604020202020204" pitchFamily="34" charset="0"/>
              <a:buChar char="•"/>
            </a:pPr>
            <a:r>
              <a:rPr lang="en-GB" dirty="0"/>
              <a:t>MySQL </a:t>
            </a:r>
          </a:p>
          <a:p>
            <a:pPr>
              <a:buFont typeface="Arial" panose="020B0604020202020204" pitchFamily="34" charset="0"/>
              <a:buChar char="•"/>
            </a:pPr>
            <a:r>
              <a:rPr lang="en-GB" dirty="0"/>
              <a:t>Data Analysis </a:t>
            </a:r>
          </a:p>
          <a:p>
            <a:pPr>
              <a:buFont typeface="Arial" panose="020B0604020202020204" pitchFamily="34" charset="0"/>
              <a:buChar char="•"/>
            </a:pPr>
            <a:r>
              <a:rPr lang="en-GB" dirty="0"/>
              <a:t>Business Intelligence </a:t>
            </a:r>
          </a:p>
          <a:p>
            <a:pPr>
              <a:buFont typeface="Arial" panose="020B0604020202020204" pitchFamily="34" charset="0"/>
              <a:buChar char="•"/>
            </a:pPr>
            <a:r>
              <a:rPr lang="en-GB" dirty="0"/>
              <a:t>Data Cleaning </a:t>
            </a:r>
          </a:p>
          <a:p>
            <a:pPr>
              <a:buFont typeface="Arial" panose="020B0604020202020204" pitchFamily="34" charset="0"/>
              <a:buChar char="•"/>
            </a:pPr>
            <a:r>
              <a:rPr lang="en-GB" dirty="0"/>
              <a:t>Statistical Analysis </a:t>
            </a:r>
          </a:p>
          <a:p>
            <a:pPr>
              <a:buFont typeface="Arial" panose="020B0604020202020204" pitchFamily="34" charset="0"/>
              <a:buChar char="•"/>
            </a:pPr>
            <a:r>
              <a:rPr lang="en-GB" dirty="0"/>
              <a:t>Data Visualization </a:t>
            </a:r>
          </a:p>
          <a:p>
            <a:pPr>
              <a:buFont typeface="Arial" panose="020B0604020202020204" pitchFamily="34" charset="0"/>
              <a:buChar char="•"/>
            </a:pPr>
            <a:r>
              <a:rPr lang="en-GB" dirty="0"/>
              <a:t>Problem Solving </a:t>
            </a:r>
          </a:p>
          <a:p>
            <a:endParaRPr lang="en-IN" dirty="0"/>
          </a:p>
        </p:txBody>
      </p:sp>
    </p:spTree>
    <p:extLst>
      <p:ext uri="{BB962C8B-B14F-4D97-AF65-F5344CB8AC3E}">
        <p14:creationId xmlns:p14="http://schemas.microsoft.com/office/powerpoint/2010/main" val="188253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4C23-66DA-40E4-90BC-0D833BCF3E78}"/>
              </a:ext>
            </a:extLst>
          </p:cNvPr>
          <p:cNvSpPr>
            <a:spLocks noGrp="1"/>
          </p:cNvSpPr>
          <p:nvPr>
            <p:ph type="title"/>
          </p:nvPr>
        </p:nvSpPr>
        <p:spPr>
          <a:xfrm>
            <a:off x="274320" y="1062111"/>
            <a:ext cx="8229600" cy="2595171"/>
          </a:xfrm>
        </p:spPr>
        <p:txBody>
          <a:bodyPr>
            <a:normAutofit/>
          </a:bodyPr>
          <a:lstStyle/>
          <a:p>
            <a:r>
              <a:rPr lang="en-GB" sz="6000" b="1" dirty="0"/>
              <a:t>Thank You</a:t>
            </a:r>
            <a:br>
              <a:rPr lang="en-GB" dirty="0"/>
            </a:br>
            <a:endParaRPr lang="en-IN" dirty="0"/>
          </a:p>
        </p:txBody>
      </p:sp>
      <p:sp>
        <p:nvSpPr>
          <p:cNvPr id="3" name="Content Placeholder 2">
            <a:extLst>
              <a:ext uri="{FF2B5EF4-FFF2-40B4-BE49-F238E27FC236}">
                <a16:creationId xmlns:a16="http://schemas.microsoft.com/office/drawing/2014/main" id="{A1598795-4A4E-4C5A-A6C1-466B36707D0E}"/>
              </a:ext>
            </a:extLst>
          </p:cNvPr>
          <p:cNvSpPr>
            <a:spLocks noGrp="1"/>
          </p:cNvSpPr>
          <p:nvPr>
            <p:ph idx="1"/>
          </p:nvPr>
        </p:nvSpPr>
        <p:spPr>
          <a:xfrm>
            <a:off x="457200" y="3784208"/>
            <a:ext cx="8229600" cy="2011681"/>
          </a:xfrm>
        </p:spPr>
        <p:txBody>
          <a:bodyPr>
            <a:normAutofit fontScale="85000" lnSpcReduction="10000"/>
          </a:bodyPr>
          <a:lstStyle/>
          <a:p>
            <a:pPr marL="0" indent="0">
              <a:buNone/>
            </a:pPr>
            <a:endParaRPr lang="en-GB" b="1" dirty="0"/>
          </a:p>
          <a:p>
            <a:r>
              <a:rPr lang="en-GB" b="1" dirty="0"/>
              <a:t>Walmart Sales Performance Analysis Using MySQL</a:t>
            </a:r>
            <a:endParaRPr lang="en-GB" dirty="0"/>
          </a:p>
          <a:p>
            <a:r>
              <a:rPr lang="en-GB" dirty="0"/>
              <a:t>Prepared By: </a:t>
            </a:r>
            <a:r>
              <a:rPr lang="en-GB" b="1" dirty="0" err="1"/>
              <a:t>Botta</a:t>
            </a:r>
            <a:r>
              <a:rPr lang="en-GB" b="1" dirty="0"/>
              <a:t> Lokesh</a:t>
            </a:r>
            <a:endParaRPr lang="en-GB" dirty="0"/>
          </a:p>
          <a:p>
            <a:r>
              <a:rPr lang="en-GB" dirty="0"/>
              <a:t> Aspiring Data Analyst</a:t>
            </a:r>
          </a:p>
          <a:p>
            <a:endParaRPr lang="en-IN" dirty="0"/>
          </a:p>
        </p:txBody>
      </p:sp>
    </p:spTree>
    <p:extLst>
      <p:ext uri="{BB962C8B-B14F-4D97-AF65-F5344CB8AC3E}">
        <p14:creationId xmlns:p14="http://schemas.microsoft.com/office/powerpoint/2010/main" val="4090166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182</TotalTime>
  <Words>1696</Words>
  <Application>Microsoft Office PowerPoint</Application>
  <PresentationFormat>On-screen Show (4:3)</PresentationFormat>
  <Paragraphs>255</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Wingdings</vt:lpstr>
      <vt:lpstr>Office Theme</vt:lpstr>
      <vt:lpstr>Walmart Sales Analysis Using MySQL</vt:lpstr>
      <vt:lpstr>Project Overview</vt:lpstr>
      <vt:lpstr>Business Problem Statement</vt:lpstr>
      <vt:lpstr>Dataset Overview</vt:lpstr>
      <vt:lpstr>Data Cleaning &amp; Preprocessing</vt:lpstr>
      <vt:lpstr>Objective Identify incomplete records that may affect analysis accuracy. SQL Check Performed validation across all major columns. Result ✅ No Missing Values Found Key Insight The dataset is 100% complete, ensuring reliable analysis and reporting. Recommendation Proceed with analysis without imputation or record removal. </vt:lpstr>
      <vt:lpstr>Objective Ensure each transaction is unique. Result ✅ No Duplicate Transactions Found Key Insight All sales records are unique and suitable for accurate aggregation. Recommendation No deduplication required.  </vt:lpstr>
      <vt:lpstr> Objective :Ensure columns use appropriate data types. Result: Data Types Successfully Validated Key Insight :Proper data types improve query accuracy and performance. Recommendation: Continue using standardized formats for future data imports. </vt:lpstr>
      <vt:lpstr>Task 1 – Branch Sales Growth Rate Analysis</vt:lpstr>
      <vt:lpstr>Task 1 Results &amp; Visualization</vt:lpstr>
      <vt:lpstr>Task 2 – Most Profitable Product Line by Branch</vt:lpstr>
      <vt:lpstr>Key Insights Branch A's most profitable category is Home &amp; Lifestyle.  Branch B performs best in Sports &amp; Travel.  Branch C generates the highest profit from Food &amp; Beverages.  Product profitability differs across branches.  Recommendations Increase inventory for top-performing product lines.  Design branch-specific promotional campaigns.  Improve visibility of profitable categories.  Optimize shelf space allocation. </vt:lpstr>
      <vt:lpstr>Task 3 – Customer Spending Segmentation</vt:lpstr>
      <vt:lpstr>Key Insights 60% of customers belong to the Medium spending segment.  High-value customers account for 20%.  Low-spending customers account for 20%.  Revenue is concentrated among a small group of customers.  Recommendations Create loyalty programs for high-value customers.  Upsell medium-spending customers.  Offer personalized discounts to low-spending customers.  Implement customer retention initiatives. </vt:lpstr>
      <vt:lpstr>Task 4 – Anomaly Detection</vt:lpstr>
      <vt:lpstr>Key Insights Multiple transactions show unusually high sales values.  Some product lines contain more anomalies than others.  Potential bulk purchases or exceptional transactions exist.  Outliers can significantly impact performance metrics.  Recommendations Monitor abnormal transactions regularly.  Verify unusually high-value purchases.  Implement fraud detection mechanisms.  Use anomaly alerts for operational monitoring. </vt:lpstr>
      <vt:lpstr>Task 5 – Payment Method Analysis</vt:lpstr>
      <vt:lpstr>Key Insights E-wallet is the preferred payment method in Mandalay.  Cash dominates transactions in Naypyitaw.  E-wallet is also most popular in Yangon.  Digital payments are widely adopted.  Recommendations Expand digital payment promotions.  Offer cashback incentives for E-wallet users.  Encourage digital adoption in cash-dominant cities.  Partner with payment providers for exclusive offers. </vt:lpstr>
      <vt:lpstr>Task 6 – Monthly Sales Distribution by Gender</vt:lpstr>
      <vt:lpstr>Key Insights Female customers contributed more sales in January and February.  Male customers contributed more sales in March.  Gender contributions remain relatively balanced.  Purchasing behavior varies across months.  Recommendations Launch gender-targeted marketing campaigns.  Analyze product preferences by gender.  Develop personalized offers.  Track gender-based trends quarterly. </vt:lpstr>
      <vt:lpstr>Task 7 – Product Preference by Customer Type</vt:lpstr>
      <vt:lpstr>Key Insights Members prefer Food &amp; Beverages.  Normal customers prefer Electronic Accessories.  Customer type influences purchasing behavior.  Revenue patterns differ across segments.  Recommendations Offer member-exclusive promotions on Food &amp; Beverages.  Promote Electronics to attract Normal customers.  Customize campaigns by customer type.  Improve cross-selling opportunities. </vt:lpstr>
      <vt:lpstr>Task 8 – Repeat Customer Analysis</vt:lpstr>
      <vt:lpstr>Key Insights Several customers make purchases within short intervals.  Repeat purchasing behavior is evident.  Customer retention contributes significantly to sales.  Frequent shoppers provide recurring revenue.  Recommendations Introduce loyalty reward programs.  Send personalized offers to repeat customers.  Develop retention-focused marketing campaigns.  Track customer lifetime value. </vt:lpstr>
      <vt:lpstr>Task 9 – Top 5 Customers by Revenue</vt:lpstr>
      <vt:lpstr>Key Insights Customer 8 generated the highest revenue.  The top 5 customers contribute a substantial share of sales.  Revenue among top customers is relatively close.  High-value customers are critical to business performance.  Recommendations Create VIP customer programs.  Offer exclusive rewards to top customers.  Increase engagement through personalized marketing.  Monitor churn risk among top customers. </vt:lpstr>
      <vt:lpstr>Task 10 – Sales Trends by Day of Week</vt:lpstr>
      <vt:lpstr>Key Insights Saturday generated the highest sales revenue.  Tuesday recorded the second-highest sales.  Monday generated the lowest sales revenue.  Weekend sales outperform weekday sales.  Recommendations Increase staffing during weekends.  Ensure adequate inventory before Saturdays.  Introduce promotional campaigns on Mondays.  Schedule marketing events on high-traffic days. </vt:lpstr>
      <vt:lpstr>Key Business Insights</vt:lpstr>
      <vt:lpstr>Strategic Recommendations</vt:lpstr>
      <vt:lpstr>SQL Concepts Applied</vt:lpstr>
      <vt:lpstr>SQL Concepts Applied</vt:lpstr>
      <vt:lpstr>Conclusion</vt:lpstr>
      <vt:lpstr>PowerPoint Presentation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23</cp:revision>
  <dcterms:created xsi:type="dcterms:W3CDTF">2013-01-27T09:14:16Z</dcterms:created>
  <dcterms:modified xsi:type="dcterms:W3CDTF">2026-06-03T10:32:01Z</dcterms:modified>
  <cp:category/>
</cp:coreProperties>
</file>